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Archivo Black" charset="1" panose="020B0A03020202020B04"/>
      <p:regular r:id="rId43"/>
    </p:embeddedFont>
    <p:embeddedFont>
      <p:font typeface="Garet" charset="1" panose="00000000000000000000"/>
      <p:regular r:id="rId44"/>
    </p:embeddedFont>
    <p:embeddedFont>
      <p:font typeface="Canva Sans" charset="1" panose="020B0503030501040103"/>
      <p:regular r:id="rId45"/>
    </p:embeddedFont>
    <p:embeddedFont>
      <p:font typeface="Arial" charset="1" panose="020B0604020202020204"/>
      <p:regular r:id="rId46"/>
    </p:embeddedFont>
    <p:embeddedFont>
      <p:font typeface="Canva Sans Bold" charset="1" panose="020B0803030501040103"/>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5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machinelearningcoban.com/2017/03/04/overfitting/" TargetMode="External" Type="http://schemas.openxmlformats.org/officeDocument/2006/relationships/hyperlink"/><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7.png" Type="http://schemas.openxmlformats.org/officeDocument/2006/relationships/image"/><Relationship Id="rId5" Target="../media/image58.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59.png" Type="http://schemas.openxmlformats.org/officeDocument/2006/relationships/image"/><Relationship Id="rId9" Target="../media/image60.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79793">
            <a:off x="14292964" y="6124389"/>
            <a:ext cx="4481217" cy="4313172"/>
          </a:xfrm>
          <a:custGeom>
            <a:avLst/>
            <a:gdLst/>
            <a:ahLst/>
            <a:cxnLst/>
            <a:rect r="r" b="b" t="t" l="l"/>
            <a:pathLst>
              <a:path h="4313172" w="4481217">
                <a:moveTo>
                  <a:pt x="0" y="0"/>
                </a:moveTo>
                <a:lnTo>
                  <a:pt x="4481217" y="0"/>
                </a:lnTo>
                <a:lnTo>
                  <a:pt x="4481217" y="4313172"/>
                </a:lnTo>
                <a:lnTo>
                  <a:pt x="0" y="43131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48903">
            <a:off x="-333203" y="754073"/>
            <a:ext cx="3615589" cy="4278804"/>
          </a:xfrm>
          <a:custGeom>
            <a:avLst/>
            <a:gdLst/>
            <a:ahLst/>
            <a:cxnLst/>
            <a:rect r="r" b="b" t="t" l="l"/>
            <a:pathLst>
              <a:path h="4278804" w="3615589">
                <a:moveTo>
                  <a:pt x="0" y="0"/>
                </a:moveTo>
                <a:lnTo>
                  <a:pt x="3615589" y="0"/>
                </a:lnTo>
                <a:lnTo>
                  <a:pt x="3615589" y="4278804"/>
                </a:lnTo>
                <a:lnTo>
                  <a:pt x="0" y="42788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294299" y="-756240"/>
            <a:ext cx="4239274" cy="4186283"/>
          </a:xfrm>
          <a:custGeom>
            <a:avLst/>
            <a:gdLst/>
            <a:ahLst/>
            <a:cxnLst/>
            <a:rect r="r" b="b" t="t" l="l"/>
            <a:pathLst>
              <a:path h="4186283" w="4239274">
                <a:moveTo>
                  <a:pt x="0" y="0"/>
                </a:moveTo>
                <a:lnTo>
                  <a:pt x="4239274" y="0"/>
                </a:lnTo>
                <a:lnTo>
                  <a:pt x="4239274" y="4186283"/>
                </a:lnTo>
                <a:lnTo>
                  <a:pt x="0" y="41862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790074">
            <a:off x="3379041" y="7245304"/>
            <a:ext cx="3140789" cy="3404649"/>
          </a:xfrm>
          <a:custGeom>
            <a:avLst/>
            <a:gdLst/>
            <a:ahLst/>
            <a:cxnLst/>
            <a:rect r="r" b="b" t="t" l="l"/>
            <a:pathLst>
              <a:path h="3404649" w="3140789">
                <a:moveTo>
                  <a:pt x="0" y="0"/>
                </a:moveTo>
                <a:lnTo>
                  <a:pt x="3140788" y="0"/>
                </a:lnTo>
                <a:lnTo>
                  <a:pt x="3140788" y="3404649"/>
                </a:lnTo>
                <a:lnTo>
                  <a:pt x="0" y="34046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5712576" y="5600565"/>
            <a:ext cx="6880832" cy="730129"/>
            <a:chOff x="0" y="0"/>
            <a:chExt cx="1812236" cy="192297"/>
          </a:xfrm>
        </p:grpSpPr>
        <p:sp>
          <p:nvSpPr>
            <p:cNvPr name="Freeform 8" id="8"/>
            <p:cNvSpPr/>
            <p:nvPr/>
          </p:nvSpPr>
          <p:spPr>
            <a:xfrm flipH="false" flipV="false" rot="0">
              <a:off x="0" y="0"/>
              <a:ext cx="1812236" cy="192297"/>
            </a:xfrm>
            <a:custGeom>
              <a:avLst/>
              <a:gdLst/>
              <a:ahLst/>
              <a:cxnLst/>
              <a:rect r="r" b="b" t="t" l="l"/>
              <a:pathLst>
                <a:path h="192297" w="1812236">
                  <a:moveTo>
                    <a:pt x="0" y="0"/>
                  </a:moveTo>
                  <a:lnTo>
                    <a:pt x="1812236" y="0"/>
                  </a:lnTo>
                  <a:lnTo>
                    <a:pt x="1812236" y="192297"/>
                  </a:lnTo>
                  <a:lnTo>
                    <a:pt x="0" y="192297"/>
                  </a:lnTo>
                  <a:close/>
                </a:path>
              </a:pathLst>
            </a:custGeom>
            <a:solidFill>
              <a:srgbClr val="FFC466"/>
            </a:solidFill>
            <a:ln w="38100" cap="sq">
              <a:solidFill>
                <a:srgbClr val="000000"/>
              </a:solidFill>
              <a:prstDash val="solid"/>
              <a:miter/>
            </a:ln>
          </p:spPr>
        </p:sp>
        <p:sp>
          <p:nvSpPr>
            <p:cNvPr name="TextBox 9" id="9"/>
            <p:cNvSpPr txBox="true"/>
            <p:nvPr/>
          </p:nvSpPr>
          <p:spPr>
            <a:xfrm>
              <a:off x="0" y="-38100"/>
              <a:ext cx="1812236" cy="230397"/>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1075636">
            <a:off x="6262080" y="-1604540"/>
            <a:ext cx="3451288" cy="4114800"/>
          </a:xfrm>
          <a:custGeom>
            <a:avLst/>
            <a:gdLst/>
            <a:ahLst/>
            <a:cxnLst/>
            <a:rect r="r" b="b" t="t" l="l"/>
            <a:pathLst>
              <a:path h="4114800" w="3451288">
                <a:moveTo>
                  <a:pt x="0" y="0"/>
                </a:moveTo>
                <a:lnTo>
                  <a:pt x="3451289" y="0"/>
                </a:lnTo>
                <a:lnTo>
                  <a:pt x="3451289"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310628">
            <a:off x="9104635" y="7752538"/>
            <a:ext cx="3456555" cy="3011523"/>
          </a:xfrm>
          <a:custGeom>
            <a:avLst/>
            <a:gdLst/>
            <a:ahLst/>
            <a:cxnLst/>
            <a:rect r="r" b="b" t="t" l="l"/>
            <a:pathLst>
              <a:path h="3011523" w="3456555">
                <a:moveTo>
                  <a:pt x="0" y="0"/>
                </a:moveTo>
                <a:lnTo>
                  <a:pt x="3456555" y="0"/>
                </a:lnTo>
                <a:lnTo>
                  <a:pt x="3456555" y="3011524"/>
                </a:lnTo>
                <a:lnTo>
                  <a:pt x="0" y="301152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1337486">
            <a:off x="-907383" y="5917195"/>
            <a:ext cx="3157736" cy="3222180"/>
          </a:xfrm>
          <a:custGeom>
            <a:avLst/>
            <a:gdLst/>
            <a:ahLst/>
            <a:cxnLst/>
            <a:rect r="r" b="b" t="t" l="l"/>
            <a:pathLst>
              <a:path h="3222180" w="3157736">
                <a:moveTo>
                  <a:pt x="0" y="0"/>
                </a:moveTo>
                <a:lnTo>
                  <a:pt x="3157736" y="0"/>
                </a:lnTo>
                <a:lnTo>
                  <a:pt x="3157736" y="3222180"/>
                </a:lnTo>
                <a:lnTo>
                  <a:pt x="0" y="322218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5543894" y="2140722"/>
            <a:ext cx="4001643" cy="4114800"/>
          </a:xfrm>
          <a:custGeom>
            <a:avLst/>
            <a:gdLst/>
            <a:ahLst/>
            <a:cxnLst/>
            <a:rect r="r" b="b" t="t" l="l"/>
            <a:pathLst>
              <a:path h="4114800" w="4001643">
                <a:moveTo>
                  <a:pt x="0" y="0"/>
                </a:moveTo>
                <a:lnTo>
                  <a:pt x="4001643" y="0"/>
                </a:lnTo>
                <a:lnTo>
                  <a:pt x="4001643" y="4114800"/>
                </a:lnTo>
                <a:lnTo>
                  <a:pt x="0" y="41148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4" id="14"/>
          <p:cNvSpPr/>
          <p:nvPr/>
        </p:nvSpPr>
        <p:spPr>
          <a:xfrm flipH="false" flipV="false" rot="0">
            <a:off x="13462638" y="6814873"/>
            <a:ext cx="805446" cy="805446"/>
          </a:xfrm>
          <a:custGeom>
            <a:avLst/>
            <a:gdLst/>
            <a:ahLst/>
            <a:cxnLst/>
            <a:rect r="r" b="b" t="t" l="l"/>
            <a:pathLst>
              <a:path h="805446" w="805446">
                <a:moveTo>
                  <a:pt x="0" y="0"/>
                </a:moveTo>
                <a:lnTo>
                  <a:pt x="805445" y="0"/>
                </a:lnTo>
                <a:lnTo>
                  <a:pt x="805445" y="805446"/>
                </a:lnTo>
                <a:lnTo>
                  <a:pt x="0" y="80544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5" id="15"/>
          <p:cNvSpPr/>
          <p:nvPr/>
        </p:nvSpPr>
        <p:spPr>
          <a:xfrm flipH="false" flipV="false" rot="0">
            <a:off x="4335630" y="2140722"/>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10832913" y="2941539"/>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7" id="17"/>
          <p:cNvSpPr/>
          <p:nvPr/>
        </p:nvSpPr>
        <p:spPr>
          <a:xfrm flipH="false" flipV="false" rot="0">
            <a:off x="7417684" y="7335299"/>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8" id="18"/>
          <p:cNvSpPr txBox="true"/>
          <p:nvPr/>
        </p:nvSpPr>
        <p:spPr>
          <a:xfrm rot="0">
            <a:off x="3032533" y="4222293"/>
            <a:ext cx="12480299" cy="1111797"/>
          </a:xfrm>
          <a:prstGeom prst="rect">
            <a:avLst/>
          </a:prstGeom>
        </p:spPr>
        <p:txBody>
          <a:bodyPr anchor="t" rtlCol="false" tIns="0" lIns="0" bIns="0" rIns="0">
            <a:spAutoFit/>
          </a:bodyPr>
          <a:lstStyle/>
          <a:p>
            <a:pPr algn="ctr">
              <a:lnSpc>
                <a:spcPts val="8774"/>
              </a:lnSpc>
              <a:spcBef>
                <a:spcPct val="0"/>
              </a:spcBef>
            </a:pPr>
            <a:r>
              <a:rPr lang="en-US" sz="7312">
                <a:solidFill>
                  <a:srgbClr val="EE4B4C"/>
                </a:solidFill>
                <a:latin typeface="Archivo Black"/>
                <a:ea typeface="Archivo Black"/>
                <a:cs typeface="Archivo Black"/>
                <a:sym typeface="Archivo Black"/>
              </a:rPr>
              <a:t>Support vector machine</a:t>
            </a:r>
          </a:p>
        </p:txBody>
      </p:sp>
      <p:sp>
        <p:nvSpPr>
          <p:cNvPr name="TextBox 19" id="19"/>
          <p:cNvSpPr txBox="true"/>
          <p:nvPr/>
        </p:nvSpPr>
        <p:spPr>
          <a:xfrm rot="0">
            <a:off x="5530670" y="5675738"/>
            <a:ext cx="7226660" cy="579823"/>
          </a:xfrm>
          <a:prstGeom prst="rect">
            <a:avLst/>
          </a:prstGeom>
        </p:spPr>
        <p:txBody>
          <a:bodyPr anchor="t" rtlCol="false" tIns="0" lIns="0" bIns="0" rIns="0">
            <a:spAutoFit/>
          </a:bodyPr>
          <a:lstStyle/>
          <a:p>
            <a:pPr algn="ctr">
              <a:lnSpc>
                <a:spcPts val="4590"/>
              </a:lnSpc>
              <a:spcBef>
                <a:spcPct val="0"/>
              </a:spcBef>
            </a:pPr>
            <a:r>
              <a:rPr lang="en-US" sz="3825">
                <a:solidFill>
                  <a:srgbClr val="0C0C0C"/>
                </a:solidFill>
                <a:latin typeface="Garet"/>
                <a:ea typeface="Garet"/>
                <a:cs typeface="Garet"/>
                <a:sym typeface="Garet"/>
              </a:rPr>
              <a:t>DEMO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 y="-1656296"/>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191828">
            <a:off x="-5710126" y="620874"/>
            <a:ext cx="9846882" cy="15503794"/>
            <a:chOff x="0" y="0"/>
            <a:chExt cx="2593418" cy="4083304"/>
          </a:xfrm>
        </p:grpSpPr>
        <p:sp>
          <p:nvSpPr>
            <p:cNvPr name="Freeform 4" id="4"/>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5" id="5"/>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24595" y="1028700"/>
            <a:ext cx="805446" cy="805446"/>
          </a:xfrm>
          <a:custGeom>
            <a:avLst/>
            <a:gdLst/>
            <a:ahLst/>
            <a:cxnLst/>
            <a:rect r="r" b="b" t="t" l="l"/>
            <a:pathLst>
              <a:path h="805446" w="805446">
                <a:moveTo>
                  <a:pt x="0" y="0"/>
                </a:moveTo>
                <a:lnTo>
                  <a:pt x="805445" y="0"/>
                </a:lnTo>
                <a:lnTo>
                  <a:pt x="805445" y="805446"/>
                </a:lnTo>
                <a:lnTo>
                  <a:pt x="0" y="805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21002">
            <a:off x="4544304" y="1431423"/>
            <a:ext cx="2455819" cy="4180117"/>
          </a:xfrm>
          <a:custGeom>
            <a:avLst/>
            <a:gdLst/>
            <a:ahLst/>
            <a:cxnLst/>
            <a:rect r="r" b="b" t="t" l="l"/>
            <a:pathLst>
              <a:path h="4180117" w="2455819">
                <a:moveTo>
                  <a:pt x="0" y="0"/>
                </a:moveTo>
                <a:lnTo>
                  <a:pt x="2455819" y="0"/>
                </a:lnTo>
                <a:lnTo>
                  <a:pt x="2455819" y="4180117"/>
                </a:lnTo>
                <a:lnTo>
                  <a:pt x="0" y="41801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965390">
            <a:off x="956004" y="4094619"/>
            <a:ext cx="3588300" cy="4278153"/>
          </a:xfrm>
          <a:custGeom>
            <a:avLst/>
            <a:gdLst/>
            <a:ahLst/>
            <a:cxnLst/>
            <a:rect r="r" b="b" t="t" l="l"/>
            <a:pathLst>
              <a:path h="4278153" w="3588300">
                <a:moveTo>
                  <a:pt x="0" y="0"/>
                </a:moveTo>
                <a:lnTo>
                  <a:pt x="3588300" y="0"/>
                </a:lnTo>
                <a:lnTo>
                  <a:pt x="3588300" y="4278152"/>
                </a:lnTo>
                <a:lnTo>
                  <a:pt x="0" y="42781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7783817" y="3812673"/>
            <a:ext cx="9948660" cy="3448050"/>
          </a:xfrm>
          <a:prstGeom prst="rect">
            <a:avLst/>
          </a:prstGeom>
        </p:spPr>
        <p:txBody>
          <a:bodyPr anchor="t" rtlCol="false" tIns="0" lIns="0" bIns="0" rIns="0">
            <a:spAutoFit/>
          </a:bodyPr>
          <a:lstStyle/>
          <a:p>
            <a:pPr algn="l">
              <a:lnSpc>
                <a:spcPts val="9015"/>
              </a:lnSpc>
            </a:pPr>
            <a:r>
              <a:rPr lang="en-US" sz="7512">
                <a:solidFill>
                  <a:srgbClr val="EE4B4C"/>
                </a:solidFill>
                <a:latin typeface="Archivo Black"/>
                <a:ea typeface="Archivo Black"/>
                <a:cs typeface="Archivo Black"/>
                <a:sym typeface="Archivo Black"/>
              </a:rPr>
              <a:t>1. Support Vector Machine</a:t>
            </a:r>
          </a:p>
          <a:p>
            <a:pPr algn="l">
              <a:lnSpc>
                <a:spcPts val="9015"/>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44323" y="250484"/>
            <a:ext cx="10711699" cy="6239825"/>
          </a:xfrm>
          <a:custGeom>
            <a:avLst/>
            <a:gdLst/>
            <a:ahLst/>
            <a:cxnLst/>
            <a:rect r="r" b="b" t="t" l="l"/>
            <a:pathLst>
              <a:path h="6239825" w="10711699">
                <a:moveTo>
                  <a:pt x="0" y="0"/>
                </a:moveTo>
                <a:lnTo>
                  <a:pt x="10711700" y="0"/>
                </a:lnTo>
                <a:lnTo>
                  <a:pt x="10711700" y="6239825"/>
                </a:lnTo>
                <a:lnTo>
                  <a:pt x="0" y="6239825"/>
                </a:lnTo>
                <a:lnTo>
                  <a:pt x="0" y="0"/>
                </a:lnTo>
                <a:close/>
              </a:path>
            </a:pathLst>
          </a:custGeom>
          <a:blipFill>
            <a:blip r:embed="rId2"/>
            <a:stretch>
              <a:fillRect l="0" t="0" r="0" b="0"/>
            </a:stretch>
          </a:blipFill>
        </p:spPr>
      </p:sp>
      <p:sp>
        <p:nvSpPr>
          <p:cNvPr name="Freeform 3" id="3"/>
          <p:cNvSpPr/>
          <p:nvPr/>
        </p:nvSpPr>
        <p:spPr>
          <a:xfrm flipH="false" flipV="false" rot="0">
            <a:off x="11774397" y="250484"/>
            <a:ext cx="5090614" cy="2628177"/>
          </a:xfrm>
          <a:custGeom>
            <a:avLst/>
            <a:gdLst/>
            <a:ahLst/>
            <a:cxnLst/>
            <a:rect r="r" b="b" t="t" l="l"/>
            <a:pathLst>
              <a:path h="2628177" w="5090614">
                <a:moveTo>
                  <a:pt x="0" y="0"/>
                </a:moveTo>
                <a:lnTo>
                  <a:pt x="5090614" y="0"/>
                </a:lnTo>
                <a:lnTo>
                  <a:pt x="5090614" y="2628178"/>
                </a:lnTo>
                <a:lnTo>
                  <a:pt x="0" y="2628178"/>
                </a:lnTo>
                <a:lnTo>
                  <a:pt x="0" y="0"/>
                </a:lnTo>
                <a:close/>
              </a:path>
            </a:pathLst>
          </a:custGeom>
          <a:blipFill>
            <a:blip r:embed="rId3"/>
            <a:stretch>
              <a:fillRect l="0" t="0" r="0" b="0"/>
            </a:stretch>
          </a:blipFill>
        </p:spPr>
      </p:sp>
      <p:sp>
        <p:nvSpPr>
          <p:cNvPr name="Freeform 4" id="4"/>
          <p:cNvSpPr/>
          <p:nvPr/>
        </p:nvSpPr>
        <p:spPr>
          <a:xfrm flipH="false" flipV="false" rot="0">
            <a:off x="10923038" y="3312439"/>
            <a:ext cx="6513830" cy="2007283"/>
          </a:xfrm>
          <a:custGeom>
            <a:avLst/>
            <a:gdLst/>
            <a:ahLst/>
            <a:cxnLst/>
            <a:rect r="r" b="b" t="t" l="l"/>
            <a:pathLst>
              <a:path h="2007283" w="6513830">
                <a:moveTo>
                  <a:pt x="0" y="0"/>
                </a:moveTo>
                <a:lnTo>
                  <a:pt x="6513830" y="0"/>
                </a:lnTo>
                <a:lnTo>
                  <a:pt x="6513830" y="2007283"/>
                </a:lnTo>
                <a:lnTo>
                  <a:pt x="0" y="2007283"/>
                </a:lnTo>
                <a:lnTo>
                  <a:pt x="0" y="0"/>
                </a:lnTo>
                <a:close/>
              </a:path>
            </a:pathLst>
          </a:custGeom>
          <a:blipFill>
            <a:blip r:embed="rId4"/>
            <a:stretch>
              <a:fillRect l="0" t="0" r="0" b="0"/>
            </a:stretch>
          </a:blipFill>
        </p:spPr>
      </p:sp>
      <p:sp>
        <p:nvSpPr>
          <p:cNvPr name="Freeform 5" id="5"/>
          <p:cNvSpPr/>
          <p:nvPr/>
        </p:nvSpPr>
        <p:spPr>
          <a:xfrm flipH="false" flipV="false" rot="0">
            <a:off x="1028700" y="6630176"/>
            <a:ext cx="16408168" cy="2789389"/>
          </a:xfrm>
          <a:custGeom>
            <a:avLst/>
            <a:gdLst/>
            <a:ahLst/>
            <a:cxnLst/>
            <a:rect r="r" b="b" t="t" l="l"/>
            <a:pathLst>
              <a:path h="2789389" w="16408168">
                <a:moveTo>
                  <a:pt x="0" y="0"/>
                </a:moveTo>
                <a:lnTo>
                  <a:pt x="16408168" y="0"/>
                </a:lnTo>
                <a:lnTo>
                  <a:pt x="16408168" y="2789388"/>
                </a:lnTo>
                <a:lnTo>
                  <a:pt x="0" y="2789388"/>
                </a:lnTo>
                <a:lnTo>
                  <a:pt x="0" y="0"/>
                </a:lnTo>
                <a:close/>
              </a:path>
            </a:pathLst>
          </a:custGeom>
          <a:blipFill>
            <a:blip r:embed="rId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2110" y="5143500"/>
            <a:ext cx="13509829" cy="2706296"/>
          </a:xfrm>
          <a:custGeom>
            <a:avLst/>
            <a:gdLst/>
            <a:ahLst/>
            <a:cxnLst/>
            <a:rect r="r" b="b" t="t" l="l"/>
            <a:pathLst>
              <a:path h="2706296" w="13509829">
                <a:moveTo>
                  <a:pt x="0" y="0"/>
                </a:moveTo>
                <a:lnTo>
                  <a:pt x="13509829" y="0"/>
                </a:lnTo>
                <a:lnTo>
                  <a:pt x="13509829" y="2706296"/>
                </a:lnTo>
                <a:lnTo>
                  <a:pt x="0" y="2706296"/>
                </a:lnTo>
                <a:lnTo>
                  <a:pt x="0" y="0"/>
                </a:lnTo>
                <a:close/>
              </a:path>
            </a:pathLst>
          </a:custGeom>
          <a:blipFill>
            <a:blip r:embed="rId2"/>
            <a:stretch>
              <a:fillRect l="0" t="0" r="0" b="0"/>
            </a:stretch>
          </a:blipFill>
        </p:spPr>
      </p:sp>
      <p:sp>
        <p:nvSpPr>
          <p:cNvPr name="Freeform 3" id="3"/>
          <p:cNvSpPr/>
          <p:nvPr/>
        </p:nvSpPr>
        <p:spPr>
          <a:xfrm flipH="false" flipV="false" rot="0">
            <a:off x="282163" y="1246307"/>
            <a:ext cx="17723674" cy="3123798"/>
          </a:xfrm>
          <a:custGeom>
            <a:avLst/>
            <a:gdLst/>
            <a:ahLst/>
            <a:cxnLst/>
            <a:rect r="r" b="b" t="t" l="l"/>
            <a:pathLst>
              <a:path h="3123798" w="17723674">
                <a:moveTo>
                  <a:pt x="0" y="0"/>
                </a:moveTo>
                <a:lnTo>
                  <a:pt x="17723674" y="0"/>
                </a:lnTo>
                <a:lnTo>
                  <a:pt x="17723674" y="3123798"/>
                </a:lnTo>
                <a:lnTo>
                  <a:pt x="0" y="3123798"/>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32381" y="554199"/>
            <a:ext cx="16471859" cy="3520860"/>
          </a:xfrm>
          <a:custGeom>
            <a:avLst/>
            <a:gdLst/>
            <a:ahLst/>
            <a:cxnLst/>
            <a:rect r="r" b="b" t="t" l="l"/>
            <a:pathLst>
              <a:path h="3520860" w="16471859">
                <a:moveTo>
                  <a:pt x="0" y="0"/>
                </a:moveTo>
                <a:lnTo>
                  <a:pt x="16471860" y="0"/>
                </a:lnTo>
                <a:lnTo>
                  <a:pt x="16471860" y="3520860"/>
                </a:lnTo>
                <a:lnTo>
                  <a:pt x="0" y="3520860"/>
                </a:lnTo>
                <a:lnTo>
                  <a:pt x="0" y="0"/>
                </a:lnTo>
                <a:close/>
              </a:path>
            </a:pathLst>
          </a:custGeom>
          <a:blipFill>
            <a:blip r:embed="rId2"/>
            <a:stretch>
              <a:fillRect l="0" t="0" r="0" b="0"/>
            </a:stretch>
          </a:blipFill>
        </p:spPr>
      </p:sp>
      <p:sp>
        <p:nvSpPr>
          <p:cNvPr name="Freeform 3" id="3"/>
          <p:cNvSpPr/>
          <p:nvPr/>
        </p:nvSpPr>
        <p:spPr>
          <a:xfrm flipH="false" flipV="false" rot="0">
            <a:off x="1664710" y="6057046"/>
            <a:ext cx="14717548" cy="2627338"/>
          </a:xfrm>
          <a:custGeom>
            <a:avLst/>
            <a:gdLst/>
            <a:ahLst/>
            <a:cxnLst/>
            <a:rect r="r" b="b" t="t" l="l"/>
            <a:pathLst>
              <a:path h="2627338" w="14717548">
                <a:moveTo>
                  <a:pt x="0" y="0"/>
                </a:moveTo>
                <a:lnTo>
                  <a:pt x="14717547" y="0"/>
                </a:lnTo>
                <a:lnTo>
                  <a:pt x="14717547" y="2627338"/>
                </a:lnTo>
                <a:lnTo>
                  <a:pt x="0" y="2627338"/>
                </a:lnTo>
                <a:lnTo>
                  <a:pt x="0" y="0"/>
                </a:lnTo>
                <a:close/>
              </a:path>
            </a:pathLst>
          </a:custGeom>
          <a:blipFill>
            <a:blip r:embed="rId3"/>
            <a:stretch>
              <a:fillRect l="0" t="0" r="0" b="0"/>
            </a:stretch>
          </a:blipFill>
        </p:spPr>
      </p:sp>
      <p:sp>
        <p:nvSpPr>
          <p:cNvPr name="Freeform 4" id="4"/>
          <p:cNvSpPr/>
          <p:nvPr/>
        </p:nvSpPr>
        <p:spPr>
          <a:xfrm flipH="false" flipV="false" rot="0">
            <a:off x="1232381" y="4537490"/>
            <a:ext cx="9905927" cy="1212019"/>
          </a:xfrm>
          <a:custGeom>
            <a:avLst/>
            <a:gdLst/>
            <a:ahLst/>
            <a:cxnLst/>
            <a:rect r="r" b="b" t="t" l="l"/>
            <a:pathLst>
              <a:path h="1212019" w="9905927">
                <a:moveTo>
                  <a:pt x="0" y="0"/>
                </a:moveTo>
                <a:lnTo>
                  <a:pt x="9905927" y="0"/>
                </a:lnTo>
                <a:lnTo>
                  <a:pt x="9905927" y="1212020"/>
                </a:lnTo>
                <a:lnTo>
                  <a:pt x="0" y="1212020"/>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32031" y="1760770"/>
            <a:ext cx="17698322" cy="5840446"/>
          </a:xfrm>
          <a:custGeom>
            <a:avLst/>
            <a:gdLst/>
            <a:ahLst/>
            <a:cxnLst/>
            <a:rect r="r" b="b" t="t" l="l"/>
            <a:pathLst>
              <a:path h="5840446" w="17698322">
                <a:moveTo>
                  <a:pt x="0" y="0"/>
                </a:moveTo>
                <a:lnTo>
                  <a:pt x="17698322" y="0"/>
                </a:lnTo>
                <a:lnTo>
                  <a:pt x="17698322" y="5840446"/>
                </a:lnTo>
                <a:lnTo>
                  <a:pt x="0" y="5840446"/>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97576" y="2114733"/>
            <a:ext cx="9884861" cy="2917165"/>
            <a:chOff x="0" y="0"/>
            <a:chExt cx="2603420" cy="768307"/>
          </a:xfrm>
        </p:grpSpPr>
        <p:sp>
          <p:nvSpPr>
            <p:cNvPr name="Freeform 4" id="4"/>
            <p:cNvSpPr/>
            <p:nvPr/>
          </p:nvSpPr>
          <p:spPr>
            <a:xfrm flipH="false" flipV="false" rot="0">
              <a:off x="0" y="0"/>
              <a:ext cx="2603420" cy="768307"/>
            </a:xfrm>
            <a:custGeom>
              <a:avLst/>
              <a:gdLst/>
              <a:ahLst/>
              <a:cxnLst/>
              <a:rect r="r" b="b" t="t" l="l"/>
              <a:pathLst>
                <a:path h="768307" w="2603420">
                  <a:moveTo>
                    <a:pt x="0" y="0"/>
                  </a:moveTo>
                  <a:lnTo>
                    <a:pt x="2603420" y="0"/>
                  </a:lnTo>
                  <a:lnTo>
                    <a:pt x="2603420" y="768307"/>
                  </a:lnTo>
                  <a:lnTo>
                    <a:pt x="0" y="768307"/>
                  </a:lnTo>
                  <a:close/>
                </a:path>
              </a:pathLst>
            </a:custGeom>
            <a:solidFill>
              <a:srgbClr val="FFC466"/>
            </a:solidFill>
            <a:ln w="38100" cap="sq">
              <a:solidFill>
                <a:srgbClr val="000000"/>
              </a:solidFill>
              <a:prstDash val="solid"/>
              <a:miter/>
            </a:ln>
          </p:spPr>
        </p:sp>
        <p:sp>
          <p:nvSpPr>
            <p:cNvPr name="TextBox 5" id="5"/>
            <p:cNvSpPr txBox="true"/>
            <p:nvPr/>
          </p:nvSpPr>
          <p:spPr>
            <a:xfrm>
              <a:off x="0" y="-38100"/>
              <a:ext cx="2603420" cy="80640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191828">
            <a:off x="-5710126" y="620874"/>
            <a:ext cx="9846882" cy="15503794"/>
            <a:chOff x="0" y="0"/>
            <a:chExt cx="2593418" cy="4083304"/>
          </a:xfrm>
        </p:grpSpPr>
        <p:sp>
          <p:nvSpPr>
            <p:cNvPr name="Freeform 7" id="7"/>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8" id="8"/>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306735" y="3257733"/>
            <a:ext cx="5335057" cy="5134992"/>
          </a:xfrm>
          <a:custGeom>
            <a:avLst/>
            <a:gdLst/>
            <a:ahLst/>
            <a:cxnLst/>
            <a:rect r="r" b="b" t="t" l="l"/>
            <a:pathLst>
              <a:path h="5134992" w="5335057">
                <a:moveTo>
                  <a:pt x="5335057" y="0"/>
                </a:moveTo>
                <a:lnTo>
                  <a:pt x="0" y="0"/>
                </a:lnTo>
                <a:lnTo>
                  <a:pt x="0" y="5134992"/>
                </a:lnTo>
                <a:lnTo>
                  <a:pt x="5335057" y="5134992"/>
                </a:lnTo>
                <a:lnTo>
                  <a:pt x="5335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974264" y="1713095"/>
            <a:ext cx="3144302" cy="3089276"/>
          </a:xfrm>
          <a:custGeom>
            <a:avLst/>
            <a:gdLst/>
            <a:ahLst/>
            <a:cxnLst/>
            <a:rect r="r" b="b" t="t" l="l"/>
            <a:pathLst>
              <a:path h="3089276" w="3144302">
                <a:moveTo>
                  <a:pt x="0" y="0"/>
                </a:moveTo>
                <a:lnTo>
                  <a:pt x="3144301" y="0"/>
                </a:lnTo>
                <a:lnTo>
                  <a:pt x="3144301" y="3089276"/>
                </a:lnTo>
                <a:lnTo>
                  <a:pt x="0" y="3089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8180005" y="2411265"/>
            <a:ext cx="9079295" cy="2305050"/>
          </a:xfrm>
          <a:prstGeom prst="rect">
            <a:avLst/>
          </a:prstGeom>
        </p:spPr>
        <p:txBody>
          <a:bodyPr anchor="t" rtlCol="false" tIns="0" lIns="0" bIns="0" rIns="0">
            <a:spAutoFit/>
          </a:bodyPr>
          <a:lstStyle/>
          <a:p>
            <a:pPr algn="l">
              <a:lnSpc>
                <a:spcPts val="9000"/>
              </a:lnSpc>
              <a:spcBef>
                <a:spcPct val="0"/>
              </a:spcBef>
            </a:pPr>
            <a:r>
              <a:rPr lang="en-US" sz="7500">
                <a:solidFill>
                  <a:srgbClr val="EE4B4C"/>
                </a:solidFill>
                <a:latin typeface="Archivo Black"/>
                <a:ea typeface="Archivo Black"/>
                <a:cs typeface="Archivo Black"/>
                <a:sym typeface="Archivo Black"/>
              </a:rPr>
              <a:t>1.1/ Tìm nghiệm theo công thức</a:t>
            </a:r>
          </a:p>
        </p:txBody>
      </p:sp>
      <p:sp>
        <p:nvSpPr>
          <p:cNvPr name="Freeform 12" id="12"/>
          <p:cNvSpPr/>
          <p:nvPr/>
        </p:nvSpPr>
        <p:spPr>
          <a:xfrm flipH="false" flipV="false" rot="0">
            <a:off x="16324595" y="1028700"/>
            <a:ext cx="805446" cy="805446"/>
          </a:xfrm>
          <a:custGeom>
            <a:avLst/>
            <a:gdLst/>
            <a:ahLst/>
            <a:cxnLst/>
            <a:rect r="r" b="b" t="t" l="l"/>
            <a:pathLst>
              <a:path h="805446" w="805446">
                <a:moveTo>
                  <a:pt x="0" y="0"/>
                </a:moveTo>
                <a:lnTo>
                  <a:pt x="805445" y="0"/>
                </a:lnTo>
                <a:lnTo>
                  <a:pt x="805445"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6" id="16"/>
          <p:cNvGrpSpPr/>
          <p:nvPr/>
        </p:nvGrpSpPr>
        <p:grpSpPr>
          <a:xfrm rot="0">
            <a:off x="7783817" y="5844308"/>
            <a:ext cx="9898619" cy="2988390"/>
            <a:chOff x="0" y="0"/>
            <a:chExt cx="2607044" cy="787066"/>
          </a:xfrm>
        </p:grpSpPr>
        <p:sp>
          <p:nvSpPr>
            <p:cNvPr name="Freeform 17" id="17"/>
            <p:cNvSpPr/>
            <p:nvPr/>
          </p:nvSpPr>
          <p:spPr>
            <a:xfrm flipH="false" flipV="false" rot="0">
              <a:off x="0" y="0"/>
              <a:ext cx="2607044" cy="787066"/>
            </a:xfrm>
            <a:custGeom>
              <a:avLst/>
              <a:gdLst/>
              <a:ahLst/>
              <a:cxnLst/>
              <a:rect r="r" b="b" t="t" l="l"/>
              <a:pathLst>
                <a:path h="787066" w="2607044">
                  <a:moveTo>
                    <a:pt x="0" y="0"/>
                  </a:moveTo>
                  <a:lnTo>
                    <a:pt x="2607044" y="0"/>
                  </a:lnTo>
                  <a:lnTo>
                    <a:pt x="2607044" y="787066"/>
                  </a:lnTo>
                  <a:lnTo>
                    <a:pt x="0" y="787066"/>
                  </a:lnTo>
                  <a:close/>
                </a:path>
              </a:pathLst>
            </a:custGeom>
            <a:solidFill>
              <a:srgbClr val="FFC466"/>
            </a:solidFill>
            <a:ln w="38100" cap="sq">
              <a:solidFill>
                <a:srgbClr val="000000"/>
              </a:solidFill>
              <a:prstDash val="solid"/>
              <a:miter/>
            </a:ln>
          </p:spPr>
        </p:sp>
        <p:sp>
          <p:nvSpPr>
            <p:cNvPr name="TextBox 18" id="18"/>
            <p:cNvSpPr txBox="true"/>
            <p:nvPr/>
          </p:nvSpPr>
          <p:spPr>
            <a:xfrm>
              <a:off x="0" y="-38100"/>
              <a:ext cx="2607044" cy="825166"/>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8180005" y="6087675"/>
            <a:ext cx="8676572" cy="2305050"/>
          </a:xfrm>
          <a:prstGeom prst="rect">
            <a:avLst/>
          </a:prstGeom>
        </p:spPr>
        <p:txBody>
          <a:bodyPr anchor="t" rtlCol="false" tIns="0" lIns="0" bIns="0" rIns="0">
            <a:spAutoFit/>
          </a:bodyPr>
          <a:lstStyle/>
          <a:p>
            <a:pPr algn="l">
              <a:lnSpc>
                <a:spcPts val="9015"/>
              </a:lnSpc>
              <a:spcBef>
                <a:spcPct val="0"/>
              </a:spcBef>
            </a:pPr>
            <a:r>
              <a:rPr lang="en-US" sz="7512">
                <a:solidFill>
                  <a:srgbClr val="EE4B4C"/>
                </a:solidFill>
                <a:latin typeface="Archivo Black"/>
                <a:ea typeface="Archivo Black"/>
                <a:cs typeface="Archivo Black"/>
                <a:sym typeface="Archivo Black"/>
              </a:rPr>
              <a:t>1.2/ Tìm nghiệm theo thư viện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83817" y="2114733"/>
            <a:ext cx="9884861" cy="2917165"/>
            <a:chOff x="0" y="0"/>
            <a:chExt cx="2603420" cy="768307"/>
          </a:xfrm>
        </p:grpSpPr>
        <p:sp>
          <p:nvSpPr>
            <p:cNvPr name="Freeform 4" id="4"/>
            <p:cNvSpPr/>
            <p:nvPr/>
          </p:nvSpPr>
          <p:spPr>
            <a:xfrm flipH="false" flipV="false" rot="0">
              <a:off x="0" y="0"/>
              <a:ext cx="2603420" cy="768307"/>
            </a:xfrm>
            <a:custGeom>
              <a:avLst/>
              <a:gdLst/>
              <a:ahLst/>
              <a:cxnLst/>
              <a:rect r="r" b="b" t="t" l="l"/>
              <a:pathLst>
                <a:path h="768307" w="2603420">
                  <a:moveTo>
                    <a:pt x="0" y="0"/>
                  </a:moveTo>
                  <a:lnTo>
                    <a:pt x="2603420" y="0"/>
                  </a:lnTo>
                  <a:lnTo>
                    <a:pt x="2603420" y="768307"/>
                  </a:lnTo>
                  <a:lnTo>
                    <a:pt x="0" y="768307"/>
                  </a:lnTo>
                  <a:close/>
                </a:path>
              </a:pathLst>
            </a:custGeom>
            <a:solidFill>
              <a:srgbClr val="FFC466"/>
            </a:solidFill>
            <a:ln w="38100" cap="sq">
              <a:solidFill>
                <a:srgbClr val="000000"/>
              </a:solidFill>
              <a:prstDash val="solid"/>
              <a:miter/>
            </a:ln>
          </p:spPr>
        </p:sp>
        <p:sp>
          <p:nvSpPr>
            <p:cNvPr name="TextBox 5" id="5"/>
            <p:cNvSpPr txBox="true"/>
            <p:nvPr/>
          </p:nvSpPr>
          <p:spPr>
            <a:xfrm>
              <a:off x="0" y="-38100"/>
              <a:ext cx="2603420" cy="80640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191828">
            <a:off x="-5710126" y="620874"/>
            <a:ext cx="9846882" cy="15503794"/>
            <a:chOff x="0" y="0"/>
            <a:chExt cx="2593418" cy="4083304"/>
          </a:xfrm>
        </p:grpSpPr>
        <p:sp>
          <p:nvSpPr>
            <p:cNvPr name="Freeform 7" id="7"/>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8" id="8"/>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306735" y="3257733"/>
            <a:ext cx="5335057" cy="5134992"/>
          </a:xfrm>
          <a:custGeom>
            <a:avLst/>
            <a:gdLst/>
            <a:ahLst/>
            <a:cxnLst/>
            <a:rect r="r" b="b" t="t" l="l"/>
            <a:pathLst>
              <a:path h="5134992" w="5335057">
                <a:moveTo>
                  <a:pt x="5335057" y="0"/>
                </a:moveTo>
                <a:lnTo>
                  <a:pt x="0" y="0"/>
                </a:lnTo>
                <a:lnTo>
                  <a:pt x="0" y="5134992"/>
                </a:lnTo>
                <a:lnTo>
                  <a:pt x="5335057" y="5134992"/>
                </a:lnTo>
                <a:lnTo>
                  <a:pt x="5335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974264" y="1713095"/>
            <a:ext cx="3144302" cy="3089276"/>
          </a:xfrm>
          <a:custGeom>
            <a:avLst/>
            <a:gdLst/>
            <a:ahLst/>
            <a:cxnLst/>
            <a:rect r="r" b="b" t="t" l="l"/>
            <a:pathLst>
              <a:path h="3089276" w="3144302">
                <a:moveTo>
                  <a:pt x="0" y="0"/>
                </a:moveTo>
                <a:lnTo>
                  <a:pt x="3144301" y="0"/>
                </a:lnTo>
                <a:lnTo>
                  <a:pt x="3144301" y="3089276"/>
                </a:lnTo>
                <a:lnTo>
                  <a:pt x="0" y="3089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8180005" y="2411265"/>
            <a:ext cx="9079295" cy="2305050"/>
          </a:xfrm>
          <a:prstGeom prst="rect">
            <a:avLst/>
          </a:prstGeom>
        </p:spPr>
        <p:txBody>
          <a:bodyPr anchor="t" rtlCol="false" tIns="0" lIns="0" bIns="0" rIns="0">
            <a:spAutoFit/>
          </a:bodyPr>
          <a:lstStyle/>
          <a:p>
            <a:pPr algn="l">
              <a:lnSpc>
                <a:spcPts val="9000"/>
              </a:lnSpc>
              <a:spcBef>
                <a:spcPct val="0"/>
              </a:spcBef>
            </a:pPr>
            <a:r>
              <a:rPr lang="en-US" sz="7500">
                <a:solidFill>
                  <a:srgbClr val="EE4B4C"/>
                </a:solidFill>
                <a:latin typeface="Archivo Black"/>
                <a:ea typeface="Archivo Black"/>
                <a:cs typeface="Archivo Black"/>
                <a:sym typeface="Archivo Black"/>
              </a:rPr>
              <a:t>1.1/ Tìm nghiệm theo công thức</a:t>
            </a:r>
          </a:p>
        </p:txBody>
      </p:sp>
      <p:sp>
        <p:nvSpPr>
          <p:cNvPr name="Freeform 12" id="12"/>
          <p:cNvSpPr/>
          <p:nvPr/>
        </p:nvSpPr>
        <p:spPr>
          <a:xfrm flipH="false" flipV="false" rot="0">
            <a:off x="16324595" y="1028700"/>
            <a:ext cx="805446" cy="805446"/>
          </a:xfrm>
          <a:custGeom>
            <a:avLst/>
            <a:gdLst/>
            <a:ahLst/>
            <a:cxnLst/>
            <a:rect r="r" b="b" t="t" l="l"/>
            <a:pathLst>
              <a:path h="805446" w="805446">
                <a:moveTo>
                  <a:pt x="0" y="0"/>
                </a:moveTo>
                <a:lnTo>
                  <a:pt x="805445" y="0"/>
                </a:lnTo>
                <a:lnTo>
                  <a:pt x="805445"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0292" y="2233246"/>
            <a:ext cx="16679008" cy="6171233"/>
          </a:xfrm>
          <a:custGeom>
            <a:avLst/>
            <a:gdLst/>
            <a:ahLst/>
            <a:cxnLst/>
            <a:rect r="r" b="b" t="t" l="l"/>
            <a:pathLst>
              <a:path h="6171233" w="16679008">
                <a:moveTo>
                  <a:pt x="0" y="0"/>
                </a:moveTo>
                <a:lnTo>
                  <a:pt x="16679008" y="0"/>
                </a:lnTo>
                <a:lnTo>
                  <a:pt x="16679008" y="6171233"/>
                </a:lnTo>
                <a:lnTo>
                  <a:pt x="0" y="6171233"/>
                </a:lnTo>
                <a:lnTo>
                  <a:pt x="0" y="0"/>
                </a:lnTo>
                <a:close/>
              </a:path>
            </a:pathLst>
          </a:custGeom>
          <a:blipFill>
            <a:blip r:embed="rId2"/>
            <a:stretch>
              <a:fillRect l="0" t="0" r="0" b="0"/>
            </a:stretch>
          </a:blipFill>
        </p:spPr>
      </p:sp>
      <p:grpSp>
        <p:nvGrpSpPr>
          <p:cNvPr name="Group 3" id="3"/>
          <p:cNvGrpSpPr/>
          <p:nvPr/>
        </p:nvGrpSpPr>
        <p:grpSpPr>
          <a:xfrm rot="0">
            <a:off x="580292" y="247168"/>
            <a:ext cx="7419188" cy="1511282"/>
            <a:chOff x="0" y="0"/>
            <a:chExt cx="1954025" cy="398033"/>
          </a:xfrm>
        </p:grpSpPr>
        <p:sp>
          <p:nvSpPr>
            <p:cNvPr name="Freeform 4" id="4"/>
            <p:cNvSpPr/>
            <p:nvPr/>
          </p:nvSpPr>
          <p:spPr>
            <a:xfrm flipH="false" flipV="false" rot="0">
              <a:off x="0" y="0"/>
              <a:ext cx="1954025" cy="398033"/>
            </a:xfrm>
            <a:custGeom>
              <a:avLst/>
              <a:gdLst/>
              <a:ahLst/>
              <a:cxnLst/>
              <a:rect r="r" b="b" t="t" l="l"/>
              <a:pathLst>
                <a:path h="398033" w="1954025">
                  <a:moveTo>
                    <a:pt x="0" y="0"/>
                  </a:moveTo>
                  <a:lnTo>
                    <a:pt x="1954025" y="0"/>
                  </a:lnTo>
                  <a:lnTo>
                    <a:pt x="1954025" y="398033"/>
                  </a:lnTo>
                  <a:lnTo>
                    <a:pt x="0" y="398033"/>
                  </a:lnTo>
                  <a:close/>
                </a:path>
              </a:pathLst>
            </a:custGeom>
            <a:solidFill>
              <a:srgbClr val="FFC466"/>
            </a:solidFill>
            <a:ln w="38100" cap="sq">
              <a:solidFill>
                <a:srgbClr val="000000"/>
              </a:solidFill>
              <a:prstDash val="solid"/>
              <a:miter/>
            </a:ln>
          </p:spPr>
        </p:sp>
        <p:sp>
          <p:nvSpPr>
            <p:cNvPr name="TextBox 5" id="5"/>
            <p:cNvSpPr txBox="true"/>
            <p:nvPr/>
          </p:nvSpPr>
          <p:spPr>
            <a:xfrm>
              <a:off x="0" y="-57150"/>
              <a:ext cx="1954025" cy="455183"/>
            </a:xfrm>
            <a:prstGeom prst="rect">
              <a:avLst/>
            </a:prstGeom>
          </p:spPr>
          <p:txBody>
            <a:bodyPr anchor="ctr" rtlCol="false" tIns="50800" lIns="50800" bIns="50800" rIns="50800"/>
            <a:lstStyle/>
            <a:p>
              <a:pPr algn="ctr">
                <a:lnSpc>
                  <a:spcPts val="4200"/>
                </a:lnSpc>
                <a:spcBef>
                  <a:spcPct val="0"/>
                </a:spcBef>
              </a:pPr>
              <a:r>
                <a:rPr lang="en-US" sz="3000">
                  <a:solidFill>
                    <a:srgbClr val="000000"/>
                  </a:solidFill>
                  <a:latin typeface="Canva Sans"/>
                  <a:ea typeface="Canva Sans"/>
                  <a:cs typeface="Canva Sans"/>
                  <a:sym typeface="Canva Sans"/>
                </a:rPr>
                <a:t>1/ Tạo dữ liệu</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80292" y="247168"/>
            <a:ext cx="11762588" cy="1511282"/>
            <a:chOff x="0" y="0"/>
            <a:chExt cx="3097966" cy="398033"/>
          </a:xfrm>
        </p:grpSpPr>
        <p:sp>
          <p:nvSpPr>
            <p:cNvPr name="Freeform 3" id="3"/>
            <p:cNvSpPr/>
            <p:nvPr/>
          </p:nvSpPr>
          <p:spPr>
            <a:xfrm flipH="false" flipV="false" rot="0">
              <a:off x="0" y="0"/>
              <a:ext cx="3097966" cy="398033"/>
            </a:xfrm>
            <a:custGeom>
              <a:avLst/>
              <a:gdLst/>
              <a:ahLst/>
              <a:cxnLst/>
              <a:rect r="r" b="b" t="t" l="l"/>
              <a:pathLst>
                <a:path h="398033" w="3097966">
                  <a:moveTo>
                    <a:pt x="0" y="0"/>
                  </a:moveTo>
                  <a:lnTo>
                    <a:pt x="3097966" y="0"/>
                  </a:lnTo>
                  <a:lnTo>
                    <a:pt x="3097966" y="398033"/>
                  </a:lnTo>
                  <a:lnTo>
                    <a:pt x="0" y="398033"/>
                  </a:lnTo>
                  <a:close/>
                </a:path>
              </a:pathLst>
            </a:custGeom>
            <a:solidFill>
              <a:srgbClr val="FFC466"/>
            </a:solidFill>
            <a:ln w="38100" cap="sq">
              <a:solidFill>
                <a:srgbClr val="000000"/>
              </a:solidFill>
              <a:prstDash val="solid"/>
              <a:miter/>
            </a:ln>
          </p:spPr>
        </p:sp>
        <p:sp>
          <p:nvSpPr>
            <p:cNvPr name="TextBox 4" id="4"/>
            <p:cNvSpPr txBox="true"/>
            <p:nvPr/>
          </p:nvSpPr>
          <p:spPr>
            <a:xfrm>
              <a:off x="0" y="-57150"/>
              <a:ext cx="3097966" cy="455183"/>
            </a:xfrm>
            <a:prstGeom prst="rect">
              <a:avLst/>
            </a:prstGeom>
          </p:spPr>
          <p:txBody>
            <a:bodyPr anchor="ctr" rtlCol="false" tIns="50800" lIns="50800" bIns="50800" rIns="50800"/>
            <a:lstStyle/>
            <a:p>
              <a:pPr algn="ctr">
                <a:lnSpc>
                  <a:spcPts val="4200"/>
                </a:lnSpc>
                <a:spcBef>
                  <a:spcPct val="0"/>
                </a:spcBef>
              </a:pPr>
              <a:r>
                <a:rPr lang="en-US" sz="3000">
                  <a:solidFill>
                    <a:srgbClr val="000000"/>
                  </a:solidFill>
                  <a:latin typeface="Canva Sans"/>
                  <a:ea typeface="Canva Sans"/>
                  <a:cs typeface="Canva Sans"/>
                  <a:sym typeface="Canva Sans"/>
                </a:rPr>
                <a:t>2/ Giải bài toán đối ngẫu bằng CVXOPT</a:t>
              </a:r>
            </a:p>
          </p:txBody>
        </p:sp>
      </p:grpSp>
      <p:sp>
        <p:nvSpPr>
          <p:cNvPr name="Freeform 5" id="5"/>
          <p:cNvSpPr/>
          <p:nvPr/>
        </p:nvSpPr>
        <p:spPr>
          <a:xfrm flipH="false" flipV="false" rot="0">
            <a:off x="580292" y="2191046"/>
            <a:ext cx="14391225" cy="7519415"/>
          </a:xfrm>
          <a:custGeom>
            <a:avLst/>
            <a:gdLst/>
            <a:ahLst/>
            <a:cxnLst/>
            <a:rect r="r" b="b" t="t" l="l"/>
            <a:pathLst>
              <a:path h="7519415" w="14391225">
                <a:moveTo>
                  <a:pt x="0" y="0"/>
                </a:moveTo>
                <a:lnTo>
                  <a:pt x="14391226" y="0"/>
                </a:lnTo>
                <a:lnTo>
                  <a:pt x="14391226" y="7519415"/>
                </a:lnTo>
                <a:lnTo>
                  <a:pt x="0" y="7519415"/>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80292" y="247168"/>
            <a:ext cx="7419188" cy="1511282"/>
            <a:chOff x="0" y="0"/>
            <a:chExt cx="1954025" cy="398033"/>
          </a:xfrm>
        </p:grpSpPr>
        <p:sp>
          <p:nvSpPr>
            <p:cNvPr name="Freeform 3" id="3"/>
            <p:cNvSpPr/>
            <p:nvPr/>
          </p:nvSpPr>
          <p:spPr>
            <a:xfrm flipH="false" flipV="false" rot="0">
              <a:off x="0" y="0"/>
              <a:ext cx="1954025" cy="398033"/>
            </a:xfrm>
            <a:custGeom>
              <a:avLst/>
              <a:gdLst/>
              <a:ahLst/>
              <a:cxnLst/>
              <a:rect r="r" b="b" t="t" l="l"/>
              <a:pathLst>
                <a:path h="398033" w="1954025">
                  <a:moveTo>
                    <a:pt x="0" y="0"/>
                  </a:moveTo>
                  <a:lnTo>
                    <a:pt x="1954025" y="0"/>
                  </a:lnTo>
                  <a:lnTo>
                    <a:pt x="1954025" y="398033"/>
                  </a:lnTo>
                  <a:lnTo>
                    <a:pt x="0" y="398033"/>
                  </a:lnTo>
                  <a:close/>
                </a:path>
              </a:pathLst>
            </a:custGeom>
            <a:solidFill>
              <a:srgbClr val="FFC466"/>
            </a:solidFill>
            <a:ln w="38100" cap="sq">
              <a:solidFill>
                <a:srgbClr val="000000"/>
              </a:solidFill>
              <a:prstDash val="solid"/>
              <a:miter/>
            </a:ln>
          </p:spPr>
        </p:sp>
        <p:sp>
          <p:nvSpPr>
            <p:cNvPr name="TextBox 4" id="4"/>
            <p:cNvSpPr txBox="true"/>
            <p:nvPr/>
          </p:nvSpPr>
          <p:spPr>
            <a:xfrm>
              <a:off x="0" y="-57150"/>
              <a:ext cx="1954025" cy="455183"/>
            </a:xfrm>
            <a:prstGeom prst="rect">
              <a:avLst/>
            </a:prstGeom>
          </p:spPr>
          <p:txBody>
            <a:bodyPr anchor="ctr" rtlCol="false" tIns="50800" lIns="50800" bIns="50800" rIns="50800"/>
            <a:lstStyle/>
            <a:p>
              <a:pPr algn="ctr">
                <a:lnSpc>
                  <a:spcPts val="4200"/>
                </a:lnSpc>
                <a:spcBef>
                  <a:spcPct val="0"/>
                </a:spcBef>
              </a:pPr>
              <a:r>
                <a:rPr lang="en-US" sz="3000">
                  <a:solidFill>
                    <a:srgbClr val="000000"/>
                  </a:solidFill>
                  <a:latin typeface="Canva Sans"/>
                  <a:ea typeface="Canva Sans"/>
                  <a:cs typeface="Canva Sans"/>
                  <a:sym typeface="Canva Sans"/>
                </a:rPr>
                <a:t>3/ Tính nghiệm</a:t>
              </a:r>
            </a:p>
          </p:txBody>
        </p:sp>
      </p:grpSp>
      <p:sp>
        <p:nvSpPr>
          <p:cNvPr name="Freeform 5" id="5"/>
          <p:cNvSpPr/>
          <p:nvPr/>
        </p:nvSpPr>
        <p:spPr>
          <a:xfrm flipH="false" flipV="false" rot="0">
            <a:off x="580292" y="2612267"/>
            <a:ext cx="13911949" cy="6785828"/>
          </a:xfrm>
          <a:custGeom>
            <a:avLst/>
            <a:gdLst/>
            <a:ahLst/>
            <a:cxnLst/>
            <a:rect r="r" b="b" t="t" l="l"/>
            <a:pathLst>
              <a:path h="6785828" w="13911949">
                <a:moveTo>
                  <a:pt x="0" y="0"/>
                </a:moveTo>
                <a:lnTo>
                  <a:pt x="13911950" y="0"/>
                </a:lnTo>
                <a:lnTo>
                  <a:pt x="13911950" y="6785829"/>
                </a:lnTo>
                <a:lnTo>
                  <a:pt x="0" y="6785829"/>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191828">
            <a:off x="-5710126" y="620874"/>
            <a:ext cx="9846882" cy="15503794"/>
            <a:chOff x="0" y="0"/>
            <a:chExt cx="2593418" cy="4083304"/>
          </a:xfrm>
        </p:grpSpPr>
        <p:sp>
          <p:nvSpPr>
            <p:cNvPr name="Freeform 4" id="4"/>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5" id="5"/>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0">
            <a:off x="1306735" y="3257733"/>
            <a:ext cx="5335057" cy="5134992"/>
          </a:xfrm>
          <a:custGeom>
            <a:avLst/>
            <a:gdLst/>
            <a:ahLst/>
            <a:cxnLst/>
            <a:rect r="r" b="b" t="t" l="l"/>
            <a:pathLst>
              <a:path h="5134992" w="5335057">
                <a:moveTo>
                  <a:pt x="5335057" y="0"/>
                </a:moveTo>
                <a:lnTo>
                  <a:pt x="0" y="0"/>
                </a:lnTo>
                <a:lnTo>
                  <a:pt x="0" y="5134992"/>
                </a:lnTo>
                <a:lnTo>
                  <a:pt x="5335057" y="5134992"/>
                </a:lnTo>
                <a:lnTo>
                  <a:pt x="5335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74264" y="1713095"/>
            <a:ext cx="3144302" cy="3089276"/>
          </a:xfrm>
          <a:custGeom>
            <a:avLst/>
            <a:gdLst/>
            <a:ahLst/>
            <a:cxnLst/>
            <a:rect r="r" b="b" t="t" l="l"/>
            <a:pathLst>
              <a:path h="3089276" w="3144302">
                <a:moveTo>
                  <a:pt x="0" y="0"/>
                </a:moveTo>
                <a:lnTo>
                  <a:pt x="3144301" y="0"/>
                </a:lnTo>
                <a:lnTo>
                  <a:pt x="3144301" y="3089276"/>
                </a:lnTo>
                <a:lnTo>
                  <a:pt x="0" y="3089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324595" y="1028700"/>
            <a:ext cx="805446" cy="805446"/>
          </a:xfrm>
          <a:custGeom>
            <a:avLst/>
            <a:gdLst/>
            <a:ahLst/>
            <a:cxnLst/>
            <a:rect r="r" b="b" t="t" l="l"/>
            <a:pathLst>
              <a:path h="805446" w="805446">
                <a:moveTo>
                  <a:pt x="0" y="0"/>
                </a:moveTo>
                <a:lnTo>
                  <a:pt x="805445" y="0"/>
                </a:lnTo>
                <a:lnTo>
                  <a:pt x="805445"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7783817" y="2476240"/>
            <a:ext cx="9898619" cy="2988390"/>
            <a:chOff x="0" y="0"/>
            <a:chExt cx="2607044" cy="787066"/>
          </a:xfrm>
        </p:grpSpPr>
        <p:sp>
          <p:nvSpPr>
            <p:cNvPr name="Freeform 13" id="13"/>
            <p:cNvSpPr/>
            <p:nvPr/>
          </p:nvSpPr>
          <p:spPr>
            <a:xfrm flipH="false" flipV="false" rot="0">
              <a:off x="0" y="0"/>
              <a:ext cx="2607044" cy="787066"/>
            </a:xfrm>
            <a:custGeom>
              <a:avLst/>
              <a:gdLst/>
              <a:ahLst/>
              <a:cxnLst/>
              <a:rect r="r" b="b" t="t" l="l"/>
              <a:pathLst>
                <a:path h="787066" w="2607044">
                  <a:moveTo>
                    <a:pt x="0" y="0"/>
                  </a:moveTo>
                  <a:lnTo>
                    <a:pt x="2607044" y="0"/>
                  </a:lnTo>
                  <a:lnTo>
                    <a:pt x="2607044" y="787066"/>
                  </a:lnTo>
                  <a:lnTo>
                    <a:pt x="0" y="787066"/>
                  </a:lnTo>
                  <a:close/>
                </a:path>
              </a:pathLst>
            </a:custGeom>
            <a:solidFill>
              <a:srgbClr val="FFC466"/>
            </a:solidFill>
            <a:ln w="38100" cap="sq">
              <a:solidFill>
                <a:srgbClr val="000000"/>
              </a:solidFill>
              <a:prstDash val="solid"/>
              <a:miter/>
            </a:ln>
          </p:spPr>
        </p:sp>
        <p:sp>
          <p:nvSpPr>
            <p:cNvPr name="TextBox 14" id="14"/>
            <p:cNvSpPr txBox="true"/>
            <p:nvPr/>
          </p:nvSpPr>
          <p:spPr>
            <a:xfrm>
              <a:off x="0" y="-38100"/>
              <a:ext cx="2607044" cy="825166"/>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8215174" y="2838450"/>
            <a:ext cx="8676572" cy="2305050"/>
          </a:xfrm>
          <a:prstGeom prst="rect">
            <a:avLst/>
          </a:prstGeom>
        </p:spPr>
        <p:txBody>
          <a:bodyPr anchor="t" rtlCol="false" tIns="0" lIns="0" bIns="0" rIns="0">
            <a:spAutoFit/>
          </a:bodyPr>
          <a:lstStyle/>
          <a:p>
            <a:pPr algn="l">
              <a:lnSpc>
                <a:spcPts val="9015"/>
              </a:lnSpc>
              <a:spcBef>
                <a:spcPct val="0"/>
              </a:spcBef>
            </a:pPr>
            <a:r>
              <a:rPr lang="en-US" sz="7512">
                <a:solidFill>
                  <a:srgbClr val="EE4B4C"/>
                </a:solidFill>
                <a:latin typeface="Archivo Black"/>
                <a:ea typeface="Archivo Black"/>
                <a:cs typeface="Archivo Black"/>
                <a:sym typeface="Archivo Black"/>
              </a:rPr>
              <a:t>1.2/ Tìm nghiệm theo thư viện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80292" y="247168"/>
            <a:ext cx="7419188" cy="1511282"/>
            <a:chOff x="0" y="0"/>
            <a:chExt cx="1954025" cy="398033"/>
          </a:xfrm>
        </p:grpSpPr>
        <p:sp>
          <p:nvSpPr>
            <p:cNvPr name="Freeform 3" id="3"/>
            <p:cNvSpPr/>
            <p:nvPr/>
          </p:nvSpPr>
          <p:spPr>
            <a:xfrm flipH="false" flipV="false" rot="0">
              <a:off x="0" y="0"/>
              <a:ext cx="1954025" cy="398033"/>
            </a:xfrm>
            <a:custGeom>
              <a:avLst/>
              <a:gdLst/>
              <a:ahLst/>
              <a:cxnLst/>
              <a:rect r="r" b="b" t="t" l="l"/>
              <a:pathLst>
                <a:path h="398033" w="1954025">
                  <a:moveTo>
                    <a:pt x="0" y="0"/>
                  </a:moveTo>
                  <a:lnTo>
                    <a:pt x="1954025" y="0"/>
                  </a:lnTo>
                  <a:lnTo>
                    <a:pt x="1954025" y="398033"/>
                  </a:lnTo>
                  <a:lnTo>
                    <a:pt x="0" y="398033"/>
                  </a:lnTo>
                  <a:close/>
                </a:path>
              </a:pathLst>
            </a:custGeom>
            <a:solidFill>
              <a:srgbClr val="FFC466"/>
            </a:solidFill>
            <a:ln w="38100" cap="sq">
              <a:solidFill>
                <a:srgbClr val="000000"/>
              </a:solidFill>
              <a:prstDash val="solid"/>
              <a:miter/>
            </a:ln>
          </p:spPr>
        </p:sp>
        <p:sp>
          <p:nvSpPr>
            <p:cNvPr name="TextBox 4" id="4"/>
            <p:cNvSpPr txBox="true"/>
            <p:nvPr/>
          </p:nvSpPr>
          <p:spPr>
            <a:xfrm>
              <a:off x="0" y="-57150"/>
              <a:ext cx="1954025" cy="455183"/>
            </a:xfrm>
            <a:prstGeom prst="rect">
              <a:avLst/>
            </a:prstGeom>
          </p:spPr>
          <p:txBody>
            <a:bodyPr anchor="ctr" rtlCol="false" tIns="50800" lIns="50800" bIns="50800" rIns="50800"/>
            <a:lstStyle/>
            <a:p>
              <a:pPr algn="ctr">
                <a:lnSpc>
                  <a:spcPts val="4200"/>
                </a:lnSpc>
                <a:spcBef>
                  <a:spcPct val="0"/>
                </a:spcBef>
              </a:pPr>
              <a:r>
                <a:rPr lang="en-US" sz="3000">
                  <a:solidFill>
                    <a:srgbClr val="000000"/>
                  </a:solidFill>
                  <a:latin typeface="Canva Sans"/>
                  <a:ea typeface="Canva Sans"/>
                  <a:cs typeface="Canva Sans"/>
                  <a:sym typeface="Canva Sans"/>
                </a:rPr>
                <a:t>Dùng thư viện sklearn</a:t>
              </a:r>
            </a:p>
          </p:txBody>
        </p:sp>
      </p:grpSp>
      <p:sp>
        <p:nvSpPr>
          <p:cNvPr name="Freeform 5" id="5"/>
          <p:cNvSpPr/>
          <p:nvPr/>
        </p:nvSpPr>
        <p:spPr>
          <a:xfrm flipH="false" flipV="false" rot="0">
            <a:off x="580292" y="2761186"/>
            <a:ext cx="16679008" cy="5941896"/>
          </a:xfrm>
          <a:custGeom>
            <a:avLst/>
            <a:gdLst/>
            <a:ahLst/>
            <a:cxnLst/>
            <a:rect r="r" b="b" t="t" l="l"/>
            <a:pathLst>
              <a:path h="5941896" w="16679008">
                <a:moveTo>
                  <a:pt x="0" y="0"/>
                </a:moveTo>
                <a:lnTo>
                  <a:pt x="16679008" y="0"/>
                </a:lnTo>
                <a:lnTo>
                  <a:pt x="16679008" y="5941897"/>
                </a:lnTo>
                <a:lnTo>
                  <a:pt x="0" y="5941897"/>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191828">
            <a:off x="-5710126" y="620874"/>
            <a:ext cx="9846882" cy="15503794"/>
            <a:chOff x="0" y="0"/>
            <a:chExt cx="2593418" cy="4083304"/>
          </a:xfrm>
        </p:grpSpPr>
        <p:sp>
          <p:nvSpPr>
            <p:cNvPr name="Freeform 4" id="4"/>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5" id="5"/>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24595" y="1028700"/>
            <a:ext cx="805446" cy="805446"/>
          </a:xfrm>
          <a:custGeom>
            <a:avLst/>
            <a:gdLst/>
            <a:ahLst/>
            <a:cxnLst/>
            <a:rect r="r" b="b" t="t" l="l"/>
            <a:pathLst>
              <a:path h="805446" w="805446">
                <a:moveTo>
                  <a:pt x="0" y="0"/>
                </a:moveTo>
                <a:lnTo>
                  <a:pt x="805445" y="0"/>
                </a:lnTo>
                <a:lnTo>
                  <a:pt x="805445" y="805446"/>
                </a:lnTo>
                <a:lnTo>
                  <a:pt x="0" y="805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21002">
            <a:off x="4544304" y="1431423"/>
            <a:ext cx="2455819" cy="4180117"/>
          </a:xfrm>
          <a:custGeom>
            <a:avLst/>
            <a:gdLst/>
            <a:ahLst/>
            <a:cxnLst/>
            <a:rect r="r" b="b" t="t" l="l"/>
            <a:pathLst>
              <a:path h="4180117" w="2455819">
                <a:moveTo>
                  <a:pt x="0" y="0"/>
                </a:moveTo>
                <a:lnTo>
                  <a:pt x="2455819" y="0"/>
                </a:lnTo>
                <a:lnTo>
                  <a:pt x="2455819" y="4180117"/>
                </a:lnTo>
                <a:lnTo>
                  <a:pt x="0" y="41801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965390">
            <a:off x="956004" y="4094619"/>
            <a:ext cx="3588300" cy="4278153"/>
          </a:xfrm>
          <a:custGeom>
            <a:avLst/>
            <a:gdLst/>
            <a:ahLst/>
            <a:cxnLst/>
            <a:rect r="r" b="b" t="t" l="l"/>
            <a:pathLst>
              <a:path h="4278153" w="3588300">
                <a:moveTo>
                  <a:pt x="0" y="0"/>
                </a:moveTo>
                <a:lnTo>
                  <a:pt x="3588300" y="0"/>
                </a:lnTo>
                <a:lnTo>
                  <a:pt x="3588300" y="4278152"/>
                </a:lnTo>
                <a:lnTo>
                  <a:pt x="0" y="42781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7783817" y="3250698"/>
            <a:ext cx="9736119" cy="4429166"/>
          </a:xfrm>
          <a:prstGeom prst="rect">
            <a:avLst/>
          </a:prstGeom>
        </p:spPr>
        <p:txBody>
          <a:bodyPr anchor="t" rtlCol="false" tIns="0" lIns="0" bIns="0" rIns="0">
            <a:spAutoFit/>
          </a:bodyPr>
          <a:lstStyle/>
          <a:p>
            <a:pPr algn="l">
              <a:lnSpc>
                <a:spcPts val="8714"/>
              </a:lnSpc>
            </a:pPr>
            <a:r>
              <a:rPr lang="en-US" sz="7262">
                <a:solidFill>
                  <a:srgbClr val="EE4B4C"/>
                </a:solidFill>
                <a:latin typeface="Archivo Black"/>
                <a:ea typeface="Archivo Black"/>
                <a:cs typeface="Archivo Black"/>
                <a:sym typeface="Archivo Black"/>
              </a:rPr>
              <a:t>2. Soft Margin Support Vector Machine</a:t>
            </a:r>
          </a:p>
          <a:p>
            <a:pPr algn="l">
              <a:lnSpc>
                <a:spcPts val="8714"/>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22999" y="871253"/>
            <a:ext cx="15636301" cy="7915878"/>
          </a:xfrm>
          <a:custGeom>
            <a:avLst/>
            <a:gdLst/>
            <a:ahLst/>
            <a:cxnLst/>
            <a:rect r="r" b="b" t="t" l="l"/>
            <a:pathLst>
              <a:path h="7915878" w="15636301">
                <a:moveTo>
                  <a:pt x="0" y="0"/>
                </a:moveTo>
                <a:lnTo>
                  <a:pt x="15636301" y="0"/>
                </a:lnTo>
                <a:lnTo>
                  <a:pt x="15636301" y="7915878"/>
                </a:lnTo>
                <a:lnTo>
                  <a:pt x="0" y="7915878"/>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078" y="6045636"/>
            <a:ext cx="15197844" cy="4027429"/>
          </a:xfrm>
          <a:custGeom>
            <a:avLst/>
            <a:gdLst/>
            <a:ahLst/>
            <a:cxnLst/>
            <a:rect r="r" b="b" t="t" l="l"/>
            <a:pathLst>
              <a:path h="4027429" w="15197844">
                <a:moveTo>
                  <a:pt x="0" y="0"/>
                </a:moveTo>
                <a:lnTo>
                  <a:pt x="15197844" y="0"/>
                </a:lnTo>
                <a:lnTo>
                  <a:pt x="15197844" y="4027429"/>
                </a:lnTo>
                <a:lnTo>
                  <a:pt x="0" y="4027429"/>
                </a:lnTo>
                <a:lnTo>
                  <a:pt x="0" y="0"/>
                </a:lnTo>
                <a:close/>
              </a:path>
            </a:pathLst>
          </a:custGeom>
          <a:blipFill>
            <a:blip r:embed="rId2"/>
            <a:stretch>
              <a:fillRect l="0" t="0" r="0" b="0"/>
            </a:stretch>
          </a:blipFill>
        </p:spPr>
      </p:sp>
      <p:sp>
        <p:nvSpPr>
          <p:cNvPr name="Freeform 3" id="3"/>
          <p:cNvSpPr/>
          <p:nvPr/>
        </p:nvSpPr>
        <p:spPr>
          <a:xfrm flipH="false" flipV="false" rot="0">
            <a:off x="802904" y="0"/>
            <a:ext cx="16342763" cy="5781252"/>
          </a:xfrm>
          <a:custGeom>
            <a:avLst/>
            <a:gdLst/>
            <a:ahLst/>
            <a:cxnLst/>
            <a:rect r="r" b="b" t="t" l="l"/>
            <a:pathLst>
              <a:path h="5781252" w="16342763">
                <a:moveTo>
                  <a:pt x="0" y="0"/>
                </a:moveTo>
                <a:lnTo>
                  <a:pt x="16342763" y="0"/>
                </a:lnTo>
                <a:lnTo>
                  <a:pt x="16342763" y="5781252"/>
                </a:lnTo>
                <a:lnTo>
                  <a:pt x="0" y="5781252"/>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1622" y="6536561"/>
            <a:ext cx="11728211" cy="3429088"/>
          </a:xfrm>
          <a:custGeom>
            <a:avLst/>
            <a:gdLst/>
            <a:ahLst/>
            <a:cxnLst/>
            <a:rect r="r" b="b" t="t" l="l"/>
            <a:pathLst>
              <a:path h="3429088" w="11728211">
                <a:moveTo>
                  <a:pt x="0" y="0"/>
                </a:moveTo>
                <a:lnTo>
                  <a:pt x="11728211" y="0"/>
                </a:lnTo>
                <a:lnTo>
                  <a:pt x="11728211" y="3429089"/>
                </a:lnTo>
                <a:lnTo>
                  <a:pt x="0" y="3429089"/>
                </a:lnTo>
                <a:lnTo>
                  <a:pt x="0" y="0"/>
                </a:lnTo>
                <a:close/>
              </a:path>
            </a:pathLst>
          </a:custGeom>
          <a:blipFill>
            <a:blip r:embed="rId2"/>
            <a:stretch>
              <a:fillRect l="0" t="0" r="0" b="0"/>
            </a:stretch>
          </a:blipFill>
        </p:spPr>
      </p:sp>
      <p:sp>
        <p:nvSpPr>
          <p:cNvPr name="Freeform 3" id="3"/>
          <p:cNvSpPr/>
          <p:nvPr/>
        </p:nvSpPr>
        <p:spPr>
          <a:xfrm flipH="false" flipV="false" rot="0">
            <a:off x="1028700" y="5349792"/>
            <a:ext cx="5829133" cy="1186770"/>
          </a:xfrm>
          <a:custGeom>
            <a:avLst/>
            <a:gdLst/>
            <a:ahLst/>
            <a:cxnLst/>
            <a:rect r="r" b="b" t="t" l="l"/>
            <a:pathLst>
              <a:path h="1186770" w="5829133">
                <a:moveTo>
                  <a:pt x="0" y="0"/>
                </a:moveTo>
                <a:lnTo>
                  <a:pt x="5829133" y="0"/>
                </a:lnTo>
                <a:lnTo>
                  <a:pt x="5829133" y="1186769"/>
                </a:lnTo>
                <a:lnTo>
                  <a:pt x="0" y="1186769"/>
                </a:lnTo>
                <a:lnTo>
                  <a:pt x="0" y="0"/>
                </a:lnTo>
                <a:close/>
              </a:path>
            </a:pathLst>
          </a:custGeom>
          <a:blipFill>
            <a:blip r:embed="rId3"/>
            <a:stretch>
              <a:fillRect l="0" t="0" r="0" b="0"/>
            </a:stretch>
          </a:blipFill>
        </p:spPr>
      </p:sp>
      <p:sp>
        <p:nvSpPr>
          <p:cNvPr name="Freeform 4" id="4"/>
          <p:cNvSpPr/>
          <p:nvPr/>
        </p:nvSpPr>
        <p:spPr>
          <a:xfrm flipH="false" flipV="false" rot="0">
            <a:off x="755425" y="355733"/>
            <a:ext cx="16307142" cy="4606768"/>
          </a:xfrm>
          <a:custGeom>
            <a:avLst/>
            <a:gdLst/>
            <a:ahLst/>
            <a:cxnLst/>
            <a:rect r="r" b="b" t="t" l="l"/>
            <a:pathLst>
              <a:path h="4606768" w="16307142">
                <a:moveTo>
                  <a:pt x="0" y="0"/>
                </a:moveTo>
                <a:lnTo>
                  <a:pt x="16307143" y="0"/>
                </a:lnTo>
                <a:lnTo>
                  <a:pt x="16307143" y="4606768"/>
                </a:lnTo>
                <a:lnTo>
                  <a:pt x="0" y="4606768"/>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575860" y="59981"/>
            <a:ext cx="9884861" cy="2560917"/>
            <a:chOff x="0" y="0"/>
            <a:chExt cx="2603420" cy="674480"/>
          </a:xfrm>
        </p:grpSpPr>
        <p:sp>
          <p:nvSpPr>
            <p:cNvPr name="Freeform 4" id="4"/>
            <p:cNvSpPr/>
            <p:nvPr/>
          </p:nvSpPr>
          <p:spPr>
            <a:xfrm flipH="false" flipV="false" rot="0">
              <a:off x="0" y="0"/>
              <a:ext cx="2603420" cy="674480"/>
            </a:xfrm>
            <a:custGeom>
              <a:avLst/>
              <a:gdLst/>
              <a:ahLst/>
              <a:cxnLst/>
              <a:rect r="r" b="b" t="t" l="l"/>
              <a:pathLst>
                <a:path h="674480" w="2603420">
                  <a:moveTo>
                    <a:pt x="0" y="0"/>
                  </a:moveTo>
                  <a:lnTo>
                    <a:pt x="2603420" y="0"/>
                  </a:lnTo>
                  <a:lnTo>
                    <a:pt x="2603420" y="674480"/>
                  </a:lnTo>
                  <a:lnTo>
                    <a:pt x="0" y="674480"/>
                  </a:lnTo>
                  <a:close/>
                </a:path>
              </a:pathLst>
            </a:custGeom>
            <a:solidFill>
              <a:srgbClr val="FFC466"/>
            </a:solidFill>
            <a:ln w="38100" cap="sq">
              <a:solidFill>
                <a:srgbClr val="000000"/>
              </a:solidFill>
              <a:prstDash val="solid"/>
              <a:miter/>
            </a:ln>
          </p:spPr>
        </p:sp>
        <p:sp>
          <p:nvSpPr>
            <p:cNvPr name="TextBox 5" id="5"/>
            <p:cNvSpPr txBox="true"/>
            <p:nvPr/>
          </p:nvSpPr>
          <p:spPr>
            <a:xfrm>
              <a:off x="0" y="-38100"/>
              <a:ext cx="2603420" cy="7125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191828">
            <a:off x="-5710126" y="620874"/>
            <a:ext cx="9846882" cy="15503794"/>
            <a:chOff x="0" y="0"/>
            <a:chExt cx="2593418" cy="4083304"/>
          </a:xfrm>
        </p:grpSpPr>
        <p:sp>
          <p:nvSpPr>
            <p:cNvPr name="Freeform 7" id="7"/>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8" id="8"/>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306735" y="3257733"/>
            <a:ext cx="5335057" cy="5134992"/>
          </a:xfrm>
          <a:custGeom>
            <a:avLst/>
            <a:gdLst/>
            <a:ahLst/>
            <a:cxnLst/>
            <a:rect r="r" b="b" t="t" l="l"/>
            <a:pathLst>
              <a:path h="5134992" w="5335057">
                <a:moveTo>
                  <a:pt x="5335057" y="0"/>
                </a:moveTo>
                <a:lnTo>
                  <a:pt x="0" y="0"/>
                </a:lnTo>
                <a:lnTo>
                  <a:pt x="0" y="5134992"/>
                </a:lnTo>
                <a:lnTo>
                  <a:pt x="5335057" y="5134992"/>
                </a:lnTo>
                <a:lnTo>
                  <a:pt x="5335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974264" y="1713095"/>
            <a:ext cx="3144302" cy="3089276"/>
          </a:xfrm>
          <a:custGeom>
            <a:avLst/>
            <a:gdLst/>
            <a:ahLst/>
            <a:cxnLst/>
            <a:rect r="r" b="b" t="t" l="l"/>
            <a:pathLst>
              <a:path h="3089276" w="3144302">
                <a:moveTo>
                  <a:pt x="0" y="0"/>
                </a:moveTo>
                <a:lnTo>
                  <a:pt x="3144301" y="0"/>
                </a:lnTo>
                <a:lnTo>
                  <a:pt x="3144301" y="3089276"/>
                </a:lnTo>
                <a:lnTo>
                  <a:pt x="0" y="3089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7575860" y="2938706"/>
            <a:ext cx="9884861" cy="3515243"/>
            <a:chOff x="0" y="0"/>
            <a:chExt cx="2603420" cy="925825"/>
          </a:xfrm>
        </p:grpSpPr>
        <p:sp>
          <p:nvSpPr>
            <p:cNvPr name="Freeform 15" id="15"/>
            <p:cNvSpPr/>
            <p:nvPr/>
          </p:nvSpPr>
          <p:spPr>
            <a:xfrm flipH="false" flipV="false" rot="0">
              <a:off x="0" y="0"/>
              <a:ext cx="2603420" cy="925825"/>
            </a:xfrm>
            <a:custGeom>
              <a:avLst/>
              <a:gdLst/>
              <a:ahLst/>
              <a:cxnLst/>
              <a:rect r="r" b="b" t="t" l="l"/>
              <a:pathLst>
                <a:path h="925825" w="2603420">
                  <a:moveTo>
                    <a:pt x="0" y="0"/>
                  </a:moveTo>
                  <a:lnTo>
                    <a:pt x="2603420" y="0"/>
                  </a:lnTo>
                  <a:lnTo>
                    <a:pt x="2603420" y="925825"/>
                  </a:lnTo>
                  <a:lnTo>
                    <a:pt x="0" y="925825"/>
                  </a:lnTo>
                  <a:close/>
                </a:path>
              </a:pathLst>
            </a:custGeom>
            <a:solidFill>
              <a:srgbClr val="FFC466"/>
            </a:solidFill>
            <a:ln w="38100" cap="sq">
              <a:solidFill>
                <a:srgbClr val="000000"/>
              </a:solidFill>
              <a:prstDash val="solid"/>
              <a:miter/>
            </a:ln>
          </p:spPr>
        </p:sp>
        <p:sp>
          <p:nvSpPr>
            <p:cNvPr name="TextBox 16" id="16"/>
            <p:cNvSpPr txBox="true"/>
            <p:nvPr/>
          </p:nvSpPr>
          <p:spPr>
            <a:xfrm>
              <a:off x="0" y="-38100"/>
              <a:ext cx="2603420" cy="963925"/>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7978643" y="345573"/>
            <a:ext cx="8676572" cy="2152650"/>
          </a:xfrm>
          <a:prstGeom prst="rect">
            <a:avLst/>
          </a:prstGeom>
        </p:spPr>
        <p:txBody>
          <a:bodyPr anchor="t" rtlCol="false" tIns="0" lIns="0" bIns="0" rIns="0">
            <a:spAutoFit/>
          </a:bodyPr>
          <a:lstStyle/>
          <a:p>
            <a:pPr algn="l">
              <a:lnSpc>
                <a:spcPts val="8415"/>
              </a:lnSpc>
              <a:spcBef>
                <a:spcPct val="0"/>
              </a:spcBef>
            </a:pPr>
            <a:r>
              <a:rPr lang="en-US" sz="7012">
                <a:solidFill>
                  <a:srgbClr val="EE4B4C"/>
                </a:solidFill>
                <a:latin typeface="Archivo Black"/>
                <a:ea typeface="Archivo Black"/>
                <a:cs typeface="Archivo Black"/>
                <a:sym typeface="Archivo Black"/>
              </a:rPr>
              <a:t>2.1/ Tìm nghiệm theo thư viện </a:t>
            </a:r>
          </a:p>
        </p:txBody>
      </p:sp>
      <p:sp>
        <p:nvSpPr>
          <p:cNvPr name="TextBox 18" id="18"/>
          <p:cNvSpPr txBox="true"/>
          <p:nvPr/>
        </p:nvSpPr>
        <p:spPr>
          <a:xfrm rot="0">
            <a:off x="7978643" y="3100890"/>
            <a:ext cx="9079295" cy="3181350"/>
          </a:xfrm>
          <a:prstGeom prst="rect">
            <a:avLst/>
          </a:prstGeom>
        </p:spPr>
        <p:txBody>
          <a:bodyPr anchor="t" rtlCol="false" tIns="0" lIns="0" bIns="0" rIns="0">
            <a:spAutoFit/>
          </a:bodyPr>
          <a:lstStyle/>
          <a:p>
            <a:pPr algn="l">
              <a:lnSpc>
                <a:spcPts val="8399"/>
              </a:lnSpc>
              <a:spcBef>
                <a:spcPct val="0"/>
              </a:spcBef>
            </a:pPr>
            <a:r>
              <a:rPr lang="en-US" sz="6999">
                <a:solidFill>
                  <a:srgbClr val="EE4B4C"/>
                </a:solidFill>
                <a:latin typeface="Archivo Black"/>
                <a:ea typeface="Archivo Black"/>
                <a:cs typeface="Archivo Black"/>
                <a:sym typeface="Archivo Black"/>
              </a:rPr>
              <a:t>2.2/ Tìm nghiệm bằng giải bài toán đối ngẫu</a:t>
            </a:r>
          </a:p>
        </p:txBody>
      </p:sp>
      <p:grpSp>
        <p:nvGrpSpPr>
          <p:cNvPr name="Group 19" id="19"/>
          <p:cNvGrpSpPr/>
          <p:nvPr/>
        </p:nvGrpSpPr>
        <p:grpSpPr>
          <a:xfrm rot="0">
            <a:off x="7575860" y="6635104"/>
            <a:ext cx="9884861" cy="3515243"/>
            <a:chOff x="0" y="0"/>
            <a:chExt cx="2603420" cy="925825"/>
          </a:xfrm>
        </p:grpSpPr>
        <p:sp>
          <p:nvSpPr>
            <p:cNvPr name="Freeform 20" id="20"/>
            <p:cNvSpPr/>
            <p:nvPr/>
          </p:nvSpPr>
          <p:spPr>
            <a:xfrm flipH="false" flipV="false" rot="0">
              <a:off x="0" y="0"/>
              <a:ext cx="2603420" cy="925825"/>
            </a:xfrm>
            <a:custGeom>
              <a:avLst/>
              <a:gdLst/>
              <a:ahLst/>
              <a:cxnLst/>
              <a:rect r="r" b="b" t="t" l="l"/>
              <a:pathLst>
                <a:path h="925825" w="2603420">
                  <a:moveTo>
                    <a:pt x="0" y="0"/>
                  </a:moveTo>
                  <a:lnTo>
                    <a:pt x="2603420" y="0"/>
                  </a:lnTo>
                  <a:lnTo>
                    <a:pt x="2603420" y="925825"/>
                  </a:lnTo>
                  <a:lnTo>
                    <a:pt x="0" y="925825"/>
                  </a:lnTo>
                  <a:close/>
                </a:path>
              </a:pathLst>
            </a:custGeom>
            <a:solidFill>
              <a:srgbClr val="FFC466"/>
            </a:solidFill>
            <a:ln w="38100" cap="sq">
              <a:solidFill>
                <a:srgbClr val="000000"/>
              </a:solidFill>
              <a:prstDash val="solid"/>
              <a:miter/>
            </a:ln>
          </p:spPr>
        </p:sp>
        <p:sp>
          <p:nvSpPr>
            <p:cNvPr name="TextBox 21" id="21"/>
            <p:cNvSpPr txBox="true"/>
            <p:nvPr/>
          </p:nvSpPr>
          <p:spPr>
            <a:xfrm>
              <a:off x="0" y="-38100"/>
              <a:ext cx="2603420" cy="963925"/>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7978643" y="6882574"/>
            <a:ext cx="9079295" cy="3181350"/>
          </a:xfrm>
          <a:prstGeom prst="rect">
            <a:avLst/>
          </a:prstGeom>
        </p:spPr>
        <p:txBody>
          <a:bodyPr anchor="t" rtlCol="false" tIns="0" lIns="0" bIns="0" rIns="0">
            <a:spAutoFit/>
          </a:bodyPr>
          <a:lstStyle/>
          <a:p>
            <a:pPr algn="l">
              <a:lnSpc>
                <a:spcPts val="8399"/>
              </a:lnSpc>
              <a:spcBef>
                <a:spcPct val="0"/>
              </a:spcBef>
            </a:pPr>
            <a:r>
              <a:rPr lang="en-US" sz="6999">
                <a:solidFill>
                  <a:srgbClr val="EE4B4C"/>
                </a:solidFill>
                <a:latin typeface="Archivo Black"/>
                <a:ea typeface="Archivo Black"/>
                <a:cs typeface="Archivo Black"/>
                <a:sym typeface="Archivo Black"/>
              </a:rPr>
              <a:t>2.3/ Tìm nghiệm bằng giải bài toán không ràng buộc</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783817" y="2873520"/>
            <a:ext cx="9884861" cy="2560917"/>
            <a:chOff x="0" y="0"/>
            <a:chExt cx="2603420" cy="674480"/>
          </a:xfrm>
        </p:grpSpPr>
        <p:sp>
          <p:nvSpPr>
            <p:cNvPr name="Freeform 4" id="4"/>
            <p:cNvSpPr/>
            <p:nvPr/>
          </p:nvSpPr>
          <p:spPr>
            <a:xfrm flipH="false" flipV="false" rot="0">
              <a:off x="0" y="0"/>
              <a:ext cx="2603420" cy="674480"/>
            </a:xfrm>
            <a:custGeom>
              <a:avLst/>
              <a:gdLst/>
              <a:ahLst/>
              <a:cxnLst/>
              <a:rect r="r" b="b" t="t" l="l"/>
              <a:pathLst>
                <a:path h="674480" w="2603420">
                  <a:moveTo>
                    <a:pt x="0" y="0"/>
                  </a:moveTo>
                  <a:lnTo>
                    <a:pt x="2603420" y="0"/>
                  </a:lnTo>
                  <a:lnTo>
                    <a:pt x="2603420" y="674480"/>
                  </a:lnTo>
                  <a:lnTo>
                    <a:pt x="0" y="674480"/>
                  </a:lnTo>
                  <a:close/>
                </a:path>
              </a:pathLst>
            </a:custGeom>
            <a:solidFill>
              <a:srgbClr val="FFC466"/>
            </a:solidFill>
            <a:ln w="38100" cap="sq">
              <a:solidFill>
                <a:srgbClr val="000000"/>
              </a:solidFill>
              <a:prstDash val="solid"/>
              <a:miter/>
            </a:ln>
          </p:spPr>
        </p:sp>
        <p:sp>
          <p:nvSpPr>
            <p:cNvPr name="TextBox 5" id="5"/>
            <p:cNvSpPr txBox="true"/>
            <p:nvPr/>
          </p:nvSpPr>
          <p:spPr>
            <a:xfrm>
              <a:off x="0" y="-38100"/>
              <a:ext cx="2603420" cy="7125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2191828">
            <a:off x="-5710126" y="620874"/>
            <a:ext cx="9846882" cy="15503794"/>
            <a:chOff x="0" y="0"/>
            <a:chExt cx="2593418" cy="4083304"/>
          </a:xfrm>
        </p:grpSpPr>
        <p:sp>
          <p:nvSpPr>
            <p:cNvPr name="Freeform 7" id="7"/>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8" id="8"/>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306735" y="3257733"/>
            <a:ext cx="5335057" cy="5134992"/>
          </a:xfrm>
          <a:custGeom>
            <a:avLst/>
            <a:gdLst/>
            <a:ahLst/>
            <a:cxnLst/>
            <a:rect r="r" b="b" t="t" l="l"/>
            <a:pathLst>
              <a:path h="5134992" w="5335057">
                <a:moveTo>
                  <a:pt x="5335057" y="0"/>
                </a:moveTo>
                <a:lnTo>
                  <a:pt x="0" y="0"/>
                </a:lnTo>
                <a:lnTo>
                  <a:pt x="0" y="5134992"/>
                </a:lnTo>
                <a:lnTo>
                  <a:pt x="5335057" y="5134992"/>
                </a:lnTo>
                <a:lnTo>
                  <a:pt x="5335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3974264" y="1713095"/>
            <a:ext cx="3144302" cy="3089276"/>
          </a:xfrm>
          <a:custGeom>
            <a:avLst/>
            <a:gdLst/>
            <a:ahLst/>
            <a:cxnLst/>
            <a:rect r="r" b="b" t="t" l="l"/>
            <a:pathLst>
              <a:path h="3089276" w="3144302">
                <a:moveTo>
                  <a:pt x="0" y="0"/>
                </a:moveTo>
                <a:lnTo>
                  <a:pt x="3144301" y="0"/>
                </a:lnTo>
                <a:lnTo>
                  <a:pt x="3144301" y="3089276"/>
                </a:lnTo>
                <a:lnTo>
                  <a:pt x="0" y="3089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8207243" y="3068128"/>
            <a:ext cx="8676572" cy="2152650"/>
          </a:xfrm>
          <a:prstGeom prst="rect">
            <a:avLst/>
          </a:prstGeom>
        </p:spPr>
        <p:txBody>
          <a:bodyPr anchor="t" rtlCol="false" tIns="0" lIns="0" bIns="0" rIns="0">
            <a:spAutoFit/>
          </a:bodyPr>
          <a:lstStyle/>
          <a:p>
            <a:pPr algn="l">
              <a:lnSpc>
                <a:spcPts val="8415"/>
              </a:lnSpc>
              <a:spcBef>
                <a:spcPct val="0"/>
              </a:spcBef>
            </a:pPr>
            <a:r>
              <a:rPr lang="en-US" sz="7012">
                <a:solidFill>
                  <a:srgbClr val="EE4B4C"/>
                </a:solidFill>
                <a:latin typeface="Archivo Black"/>
                <a:ea typeface="Archivo Black"/>
                <a:cs typeface="Archivo Black"/>
                <a:sym typeface="Archivo Black"/>
              </a:rPr>
              <a:t>2.1/ Tìm nghiệm theo thư viện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46321" y="1509598"/>
            <a:ext cx="15795357" cy="4570123"/>
          </a:xfrm>
          <a:custGeom>
            <a:avLst/>
            <a:gdLst/>
            <a:ahLst/>
            <a:cxnLst/>
            <a:rect r="r" b="b" t="t" l="l"/>
            <a:pathLst>
              <a:path h="4570123" w="15795357">
                <a:moveTo>
                  <a:pt x="0" y="0"/>
                </a:moveTo>
                <a:lnTo>
                  <a:pt x="15795358" y="0"/>
                </a:lnTo>
                <a:lnTo>
                  <a:pt x="15795358" y="4570123"/>
                </a:lnTo>
                <a:lnTo>
                  <a:pt x="0" y="4570123"/>
                </a:lnTo>
                <a:lnTo>
                  <a:pt x="0" y="0"/>
                </a:lnTo>
                <a:close/>
              </a:path>
            </a:pathLst>
          </a:custGeom>
          <a:blipFill>
            <a:blip r:embed="rId2"/>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42612" y="1028700"/>
            <a:ext cx="9802776" cy="7700435"/>
          </a:xfrm>
          <a:custGeom>
            <a:avLst/>
            <a:gdLst/>
            <a:ahLst/>
            <a:cxnLst/>
            <a:rect r="r" b="b" t="t" l="l"/>
            <a:pathLst>
              <a:path h="7700435" w="9802776">
                <a:moveTo>
                  <a:pt x="0" y="0"/>
                </a:moveTo>
                <a:lnTo>
                  <a:pt x="9802776" y="0"/>
                </a:lnTo>
                <a:lnTo>
                  <a:pt x="9802776" y="7700435"/>
                </a:lnTo>
                <a:lnTo>
                  <a:pt x="0" y="7700435"/>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191828">
            <a:off x="-5710126" y="620874"/>
            <a:ext cx="9846882" cy="15503794"/>
            <a:chOff x="0" y="0"/>
            <a:chExt cx="2593418" cy="4083304"/>
          </a:xfrm>
        </p:grpSpPr>
        <p:sp>
          <p:nvSpPr>
            <p:cNvPr name="Freeform 4" id="4"/>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5" id="5"/>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0">
            <a:off x="1306735" y="3257733"/>
            <a:ext cx="5335057" cy="5134992"/>
          </a:xfrm>
          <a:custGeom>
            <a:avLst/>
            <a:gdLst/>
            <a:ahLst/>
            <a:cxnLst/>
            <a:rect r="r" b="b" t="t" l="l"/>
            <a:pathLst>
              <a:path h="5134992" w="5335057">
                <a:moveTo>
                  <a:pt x="5335057" y="0"/>
                </a:moveTo>
                <a:lnTo>
                  <a:pt x="0" y="0"/>
                </a:lnTo>
                <a:lnTo>
                  <a:pt x="0" y="5134992"/>
                </a:lnTo>
                <a:lnTo>
                  <a:pt x="5335057" y="5134992"/>
                </a:lnTo>
                <a:lnTo>
                  <a:pt x="5335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74264" y="1713095"/>
            <a:ext cx="3144302" cy="3089276"/>
          </a:xfrm>
          <a:custGeom>
            <a:avLst/>
            <a:gdLst/>
            <a:ahLst/>
            <a:cxnLst/>
            <a:rect r="r" b="b" t="t" l="l"/>
            <a:pathLst>
              <a:path h="3089276" w="3144302">
                <a:moveTo>
                  <a:pt x="0" y="0"/>
                </a:moveTo>
                <a:lnTo>
                  <a:pt x="3144301" y="0"/>
                </a:lnTo>
                <a:lnTo>
                  <a:pt x="3144301" y="3089276"/>
                </a:lnTo>
                <a:lnTo>
                  <a:pt x="0" y="3089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7575860" y="2938706"/>
            <a:ext cx="9884861" cy="3515243"/>
            <a:chOff x="0" y="0"/>
            <a:chExt cx="2603420" cy="925825"/>
          </a:xfrm>
        </p:grpSpPr>
        <p:sp>
          <p:nvSpPr>
            <p:cNvPr name="Freeform 11" id="11"/>
            <p:cNvSpPr/>
            <p:nvPr/>
          </p:nvSpPr>
          <p:spPr>
            <a:xfrm flipH="false" flipV="false" rot="0">
              <a:off x="0" y="0"/>
              <a:ext cx="2603420" cy="925825"/>
            </a:xfrm>
            <a:custGeom>
              <a:avLst/>
              <a:gdLst/>
              <a:ahLst/>
              <a:cxnLst/>
              <a:rect r="r" b="b" t="t" l="l"/>
              <a:pathLst>
                <a:path h="925825" w="2603420">
                  <a:moveTo>
                    <a:pt x="0" y="0"/>
                  </a:moveTo>
                  <a:lnTo>
                    <a:pt x="2603420" y="0"/>
                  </a:lnTo>
                  <a:lnTo>
                    <a:pt x="2603420" y="925825"/>
                  </a:lnTo>
                  <a:lnTo>
                    <a:pt x="0" y="925825"/>
                  </a:lnTo>
                  <a:close/>
                </a:path>
              </a:pathLst>
            </a:custGeom>
            <a:solidFill>
              <a:srgbClr val="FFC466"/>
            </a:solidFill>
            <a:ln w="38100" cap="sq">
              <a:solidFill>
                <a:srgbClr val="000000"/>
              </a:solidFill>
              <a:prstDash val="solid"/>
              <a:miter/>
            </a:ln>
          </p:spPr>
        </p:sp>
        <p:sp>
          <p:nvSpPr>
            <p:cNvPr name="TextBox 12" id="12"/>
            <p:cNvSpPr txBox="true"/>
            <p:nvPr/>
          </p:nvSpPr>
          <p:spPr>
            <a:xfrm>
              <a:off x="0" y="-38100"/>
              <a:ext cx="2603420" cy="96392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7978643" y="3100890"/>
            <a:ext cx="9079295" cy="3181350"/>
          </a:xfrm>
          <a:prstGeom prst="rect">
            <a:avLst/>
          </a:prstGeom>
        </p:spPr>
        <p:txBody>
          <a:bodyPr anchor="t" rtlCol="false" tIns="0" lIns="0" bIns="0" rIns="0">
            <a:spAutoFit/>
          </a:bodyPr>
          <a:lstStyle/>
          <a:p>
            <a:pPr algn="l">
              <a:lnSpc>
                <a:spcPts val="8399"/>
              </a:lnSpc>
              <a:spcBef>
                <a:spcPct val="0"/>
              </a:spcBef>
            </a:pPr>
            <a:r>
              <a:rPr lang="en-US" sz="6999">
                <a:solidFill>
                  <a:srgbClr val="EE4B4C"/>
                </a:solidFill>
                <a:latin typeface="Archivo Black"/>
                <a:ea typeface="Archivo Black"/>
                <a:cs typeface="Archivo Black"/>
                <a:sym typeface="Archivo Black"/>
              </a:rPr>
              <a:t>2.2/ Tìm nghiệm bằng giải bài toán đối ngẫu</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191828">
            <a:off x="-5710126" y="620874"/>
            <a:ext cx="9846882" cy="15503794"/>
            <a:chOff x="0" y="0"/>
            <a:chExt cx="2593418" cy="4083304"/>
          </a:xfrm>
        </p:grpSpPr>
        <p:sp>
          <p:nvSpPr>
            <p:cNvPr name="Freeform 4" id="4"/>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5" id="5"/>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true" flipV="false" rot="0">
            <a:off x="1306735" y="3257733"/>
            <a:ext cx="5335057" cy="5134992"/>
          </a:xfrm>
          <a:custGeom>
            <a:avLst/>
            <a:gdLst/>
            <a:ahLst/>
            <a:cxnLst/>
            <a:rect r="r" b="b" t="t" l="l"/>
            <a:pathLst>
              <a:path h="5134992" w="5335057">
                <a:moveTo>
                  <a:pt x="5335057" y="0"/>
                </a:moveTo>
                <a:lnTo>
                  <a:pt x="0" y="0"/>
                </a:lnTo>
                <a:lnTo>
                  <a:pt x="0" y="5134992"/>
                </a:lnTo>
                <a:lnTo>
                  <a:pt x="5335057" y="5134992"/>
                </a:lnTo>
                <a:lnTo>
                  <a:pt x="533505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74264" y="1713095"/>
            <a:ext cx="3144302" cy="3089276"/>
          </a:xfrm>
          <a:custGeom>
            <a:avLst/>
            <a:gdLst/>
            <a:ahLst/>
            <a:cxnLst/>
            <a:rect r="r" b="b" t="t" l="l"/>
            <a:pathLst>
              <a:path h="3089276" w="3144302">
                <a:moveTo>
                  <a:pt x="0" y="0"/>
                </a:moveTo>
                <a:lnTo>
                  <a:pt x="3144301" y="0"/>
                </a:lnTo>
                <a:lnTo>
                  <a:pt x="3144301" y="3089276"/>
                </a:lnTo>
                <a:lnTo>
                  <a:pt x="0" y="30892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7783817" y="2449965"/>
            <a:ext cx="9884861" cy="3515243"/>
            <a:chOff x="0" y="0"/>
            <a:chExt cx="2603420" cy="925825"/>
          </a:xfrm>
        </p:grpSpPr>
        <p:sp>
          <p:nvSpPr>
            <p:cNvPr name="Freeform 12" id="12"/>
            <p:cNvSpPr/>
            <p:nvPr/>
          </p:nvSpPr>
          <p:spPr>
            <a:xfrm flipH="false" flipV="false" rot="0">
              <a:off x="0" y="0"/>
              <a:ext cx="2603420" cy="925825"/>
            </a:xfrm>
            <a:custGeom>
              <a:avLst/>
              <a:gdLst/>
              <a:ahLst/>
              <a:cxnLst/>
              <a:rect r="r" b="b" t="t" l="l"/>
              <a:pathLst>
                <a:path h="925825" w="2603420">
                  <a:moveTo>
                    <a:pt x="0" y="0"/>
                  </a:moveTo>
                  <a:lnTo>
                    <a:pt x="2603420" y="0"/>
                  </a:lnTo>
                  <a:lnTo>
                    <a:pt x="2603420" y="925825"/>
                  </a:lnTo>
                  <a:lnTo>
                    <a:pt x="0" y="925825"/>
                  </a:lnTo>
                  <a:close/>
                </a:path>
              </a:pathLst>
            </a:custGeom>
            <a:solidFill>
              <a:srgbClr val="FFC466"/>
            </a:solidFill>
            <a:ln w="38100" cap="sq">
              <a:solidFill>
                <a:srgbClr val="000000"/>
              </a:solidFill>
              <a:prstDash val="solid"/>
              <a:miter/>
            </a:ln>
          </p:spPr>
        </p:sp>
        <p:sp>
          <p:nvSpPr>
            <p:cNvPr name="TextBox 13" id="13"/>
            <p:cNvSpPr txBox="true"/>
            <p:nvPr/>
          </p:nvSpPr>
          <p:spPr>
            <a:xfrm>
              <a:off x="0" y="-38100"/>
              <a:ext cx="2603420" cy="963925"/>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8186600" y="2643879"/>
            <a:ext cx="9079295" cy="3181350"/>
          </a:xfrm>
          <a:prstGeom prst="rect">
            <a:avLst/>
          </a:prstGeom>
        </p:spPr>
        <p:txBody>
          <a:bodyPr anchor="t" rtlCol="false" tIns="0" lIns="0" bIns="0" rIns="0">
            <a:spAutoFit/>
          </a:bodyPr>
          <a:lstStyle/>
          <a:p>
            <a:pPr algn="l">
              <a:lnSpc>
                <a:spcPts val="8399"/>
              </a:lnSpc>
              <a:spcBef>
                <a:spcPct val="0"/>
              </a:spcBef>
            </a:pPr>
            <a:r>
              <a:rPr lang="en-US" sz="6999">
                <a:solidFill>
                  <a:srgbClr val="EE4B4C"/>
                </a:solidFill>
                <a:latin typeface="Archivo Black"/>
                <a:ea typeface="Archivo Black"/>
                <a:cs typeface="Archivo Black"/>
                <a:sym typeface="Archivo Black"/>
              </a:rPr>
              <a:t>2.3/ Tìm nghiệm bằng giải bài toán không ràng buộc</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2191828">
            <a:off x="-5710126" y="620874"/>
            <a:ext cx="9846882" cy="15503794"/>
            <a:chOff x="0" y="0"/>
            <a:chExt cx="2593418" cy="4083304"/>
          </a:xfrm>
        </p:grpSpPr>
        <p:sp>
          <p:nvSpPr>
            <p:cNvPr name="Freeform 4" id="4"/>
            <p:cNvSpPr/>
            <p:nvPr/>
          </p:nvSpPr>
          <p:spPr>
            <a:xfrm flipH="false" flipV="false" rot="0">
              <a:off x="0" y="0"/>
              <a:ext cx="2593417" cy="4083304"/>
            </a:xfrm>
            <a:custGeom>
              <a:avLst/>
              <a:gdLst/>
              <a:ahLst/>
              <a:cxnLst/>
              <a:rect r="r" b="b" t="t" l="l"/>
              <a:pathLst>
                <a:path h="4083304" w="2593417">
                  <a:moveTo>
                    <a:pt x="0" y="0"/>
                  </a:moveTo>
                  <a:lnTo>
                    <a:pt x="2593417" y="0"/>
                  </a:lnTo>
                  <a:lnTo>
                    <a:pt x="2593417" y="4083304"/>
                  </a:lnTo>
                  <a:lnTo>
                    <a:pt x="0" y="4083304"/>
                  </a:lnTo>
                  <a:close/>
                </a:path>
              </a:pathLst>
            </a:custGeom>
            <a:solidFill>
              <a:srgbClr val="EE4B4C"/>
            </a:solidFill>
            <a:ln w="38100" cap="sq">
              <a:solidFill>
                <a:srgbClr val="000000"/>
              </a:solidFill>
              <a:prstDash val="solid"/>
              <a:miter/>
            </a:ln>
          </p:spPr>
        </p:sp>
        <p:sp>
          <p:nvSpPr>
            <p:cNvPr name="TextBox 5" id="5"/>
            <p:cNvSpPr txBox="true"/>
            <p:nvPr/>
          </p:nvSpPr>
          <p:spPr>
            <a:xfrm>
              <a:off x="0" y="-38100"/>
              <a:ext cx="2593418" cy="4121404"/>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6324595" y="1028700"/>
            <a:ext cx="805446" cy="805446"/>
          </a:xfrm>
          <a:custGeom>
            <a:avLst/>
            <a:gdLst/>
            <a:ahLst/>
            <a:cxnLst/>
            <a:rect r="r" b="b" t="t" l="l"/>
            <a:pathLst>
              <a:path h="805446" w="805446">
                <a:moveTo>
                  <a:pt x="0" y="0"/>
                </a:moveTo>
                <a:lnTo>
                  <a:pt x="805445" y="0"/>
                </a:lnTo>
                <a:lnTo>
                  <a:pt x="805445" y="805446"/>
                </a:lnTo>
                <a:lnTo>
                  <a:pt x="0" y="805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082968" y="1028700"/>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974264" y="9150111"/>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213654" y="925830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21002">
            <a:off x="4544304" y="1431423"/>
            <a:ext cx="2455819" cy="4180117"/>
          </a:xfrm>
          <a:custGeom>
            <a:avLst/>
            <a:gdLst/>
            <a:ahLst/>
            <a:cxnLst/>
            <a:rect r="r" b="b" t="t" l="l"/>
            <a:pathLst>
              <a:path h="4180117" w="2455819">
                <a:moveTo>
                  <a:pt x="0" y="0"/>
                </a:moveTo>
                <a:lnTo>
                  <a:pt x="2455819" y="0"/>
                </a:lnTo>
                <a:lnTo>
                  <a:pt x="2455819" y="4180117"/>
                </a:lnTo>
                <a:lnTo>
                  <a:pt x="0" y="41801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965390">
            <a:off x="956004" y="4094619"/>
            <a:ext cx="3588300" cy="4278153"/>
          </a:xfrm>
          <a:custGeom>
            <a:avLst/>
            <a:gdLst/>
            <a:ahLst/>
            <a:cxnLst/>
            <a:rect r="r" b="b" t="t" l="l"/>
            <a:pathLst>
              <a:path h="4278153" w="3588300">
                <a:moveTo>
                  <a:pt x="0" y="0"/>
                </a:moveTo>
                <a:lnTo>
                  <a:pt x="3588300" y="0"/>
                </a:lnTo>
                <a:lnTo>
                  <a:pt x="3588300" y="4278152"/>
                </a:lnTo>
                <a:lnTo>
                  <a:pt x="0" y="42781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7783817" y="3812673"/>
            <a:ext cx="9948660" cy="3448050"/>
          </a:xfrm>
          <a:prstGeom prst="rect">
            <a:avLst/>
          </a:prstGeom>
        </p:spPr>
        <p:txBody>
          <a:bodyPr anchor="t" rtlCol="false" tIns="0" lIns="0" bIns="0" rIns="0">
            <a:spAutoFit/>
          </a:bodyPr>
          <a:lstStyle/>
          <a:p>
            <a:pPr algn="l">
              <a:lnSpc>
                <a:spcPts val="9015"/>
              </a:lnSpc>
            </a:pPr>
            <a:r>
              <a:rPr lang="en-US" sz="7512">
                <a:solidFill>
                  <a:srgbClr val="EE4B4C"/>
                </a:solidFill>
                <a:latin typeface="Archivo Black"/>
                <a:ea typeface="Archivo Black"/>
                <a:cs typeface="Archivo Black"/>
                <a:sym typeface="Archivo Black"/>
              </a:rPr>
              <a:t>3. Kernel Support Vector Machine</a:t>
            </a:r>
          </a:p>
          <a:p>
            <a:pPr algn="l">
              <a:lnSpc>
                <a:spcPts val="9015"/>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63062" y="0"/>
            <a:ext cx="16296238" cy="10287000"/>
          </a:xfrm>
          <a:custGeom>
            <a:avLst/>
            <a:gdLst/>
            <a:ahLst/>
            <a:cxnLst/>
            <a:rect r="r" b="b" t="t" l="l"/>
            <a:pathLst>
              <a:path h="10287000" w="16296238">
                <a:moveTo>
                  <a:pt x="0" y="0"/>
                </a:moveTo>
                <a:lnTo>
                  <a:pt x="16296238" y="0"/>
                </a:lnTo>
                <a:lnTo>
                  <a:pt x="16296238" y="10287000"/>
                </a:lnTo>
                <a:lnTo>
                  <a:pt x="0" y="10287000"/>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75026" y="0"/>
            <a:ext cx="16296238" cy="10287000"/>
          </a:xfrm>
          <a:custGeom>
            <a:avLst/>
            <a:gdLst/>
            <a:ahLst/>
            <a:cxnLst/>
            <a:rect r="r" b="b" t="t" l="l"/>
            <a:pathLst>
              <a:path h="10287000" w="16296238">
                <a:moveTo>
                  <a:pt x="0" y="0"/>
                </a:moveTo>
                <a:lnTo>
                  <a:pt x="16296238" y="0"/>
                </a:lnTo>
                <a:lnTo>
                  <a:pt x="16296238"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4848595" y="1367926"/>
            <a:ext cx="12410705" cy="2742775"/>
            <a:chOff x="0" y="0"/>
            <a:chExt cx="3268663" cy="722377"/>
          </a:xfrm>
        </p:grpSpPr>
        <p:sp>
          <p:nvSpPr>
            <p:cNvPr name="Freeform 5" id="5"/>
            <p:cNvSpPr/>
            <p:nvPr/>
          </p:nvSpPr>
          <p:spPr>
            <a:xfrm flipH="false" flipV="false" rot="0">
              <a:off x="0" y="0"/>
              <a:ext cx="3268663" cy="722377"/>
            </a:xfrm>
            <a:custGeom>
              <a:avLst/>
              <a:gdLst/>
              <a:ahLst/>
              <a:cxnLst/>
              <a:rect r="r" b="b" t="t" l="l"/>
              <a:pathLst>
                <a:path h="722377" w="3268663">
                  <a:moveTo>
                    <a:pt x="0" y="0"/>
                  </a:moveTo>
                  <a:lnTo>
                    <a:pt x="3268663" y="0"/>
                  </a:lnTo>
                  <a:lnTo>
                    <a:pt x="3268663" y="722377"/>
                  </a:lnTo>
                  <a:lnTo>
                    <a:pt x="0" y="722377"/>
                  </a:lnTo>
                  <a:close/>
                </a:path>
              </a:pathLst>
            </a:custGeom>
            <a:solidFill>
              <a:srgbClr val="FFC466"/>
            </a:solidFill>
            <a:ln w="38100" cap="sq">
              <a:solidFill>
                <a:srgbClr val="000000"/>
              </a:solidFill>
              <a:prstDash val="solid"/>
              <a:miter/>
            </a:ln>
          </p:spPr>
        </p:sp>
        <p:sp>
          <p:nvSpPr>
            <p:cNvPr name="TextBox 6" id="6"/>
            <p:cNvSpPr txBox="true"/>
            <p:nvPr/>
          </p:nvSpPr>
          <p:spPr>
            <a:xfrm>
              <a:off x="0" y="-47625"/>
              <a:ext cx="3268663" cy="770002"/>
            </a:xfrm>
            <a:prstGeom prst="rect">
              <a:avLst/>
            </a:prstGeom>
          </p:spPr>
          <p:txBody>
            <a:bodyPr anchor="ctr" rtlCol="false" tIns="50800" lIns="50800" bIns="50800" rIns="50800"/>
            <a:lstStyle/>
            <a:p>
              <a:pPr algn="ctr">
                <a:lnSpc>
                  <a:spcPts val="4199"/>
                </a:lnSpc>
                <a:spcBef>
                  <a:spcPct val="0"/>
                </a:spcBef>
              </a:pPr>
              <a:r>
                <a:rPr lang="en-US" sz="2999">
                  <a:solidFill>
                    <a:srgbClr val="000000"/>
                  </a:solidFill>
                  <a:latin typeface="Canva Sans"/>
                  <a:ea typeface="Canva Sans"/>
                  <a:cs typeface="Canva Sans"/>
                  <a:sym typeface="Canva Sans"/>
                </a:rPr>
                <a:t> Áp dụng SVM lên bài toán mà dữ liệu giữa hai classes là hoàn toàn </a:t>
              </a:r>
              <a:r>
                <a:rPr lang="en-US" sz="2999">
                  <a:solidFill>
                    <a:srgbClr val="000000"/>
                  </a:solidFill>
                  <a:latin typeface="Canva Sans"/>
                  <a:ea typeface="Canva Sans"/>
                  <a:cs typeface="Canva Sans"/>
                  <a:sym typeface="Canva Sans"/>
                </a:rPr>
                <a:t>không linear separable (tạm dịch là không phân biệt tuyến tính)</a:t>
              </a:r>
            </a:p>
          </p:txBody>
        </p:sp>
      </p:grpSp>
      <p:grpSp>
        <p:nvGrpSpPr>
          <p:cNvPr name="Group 7" id="7"/>
          <p:cNvGrpSpPr/>
          <p:nvPr/>
        </p:nvGrpSpPr>
        <p:grpSpPr>
          <a:xfrm rot="0">
            <a:off x="4848595" y="5311543"/>
            <a:ext cx="12410705" cy="2742775"/>
            <a:chOff x="0" y="0"/>
            <a:chExt cx="3268663" cy="722377"/>
          </a:xfrm>
        </p:grpSpPr>
        <p:sp>
          <p:nvSpPr>
            <p:cNvPr name="Freeform 8" id="8"/>
            <p:cNvSpPr/>
            <p:nvPr/>
          </p:nvSpPr>
          <p:spPr>
            <a:xfrm flipH="false" flipV="false" rot="0">
              <a:off x="0" y="0"/>
              <a:ext cx="3268663" cy="722377"/>
            </a:xfrm>
            <a:custGeom>
              <a:avLst/>
              <a:gdLst/>
              <a:ahLst/>
              <a:cxnLst/>
              <a:rect r="r" b="b" t="t" l="l"/>
              <a:pathLst>
                <a:path h="722377" w="3268663">
                  <a:moveTo>
                    <a:pt x="0" y="0"/>
                  </a:moveTo>
                  <a:lnTo>
                    <a:pt x="3268663" y="0"/>
                  </a:lnTo>
                  <a:lnTo>
                    <a:pt x="3268663" y="722377"/>
                  </a:lnTo>
                  <a:lnTo>
                    <a:pt x="0" y="722377"/>
                  </a:lnTo>
                  <a:close/>
                </a:path>
              </a:pathLst>
            </a:custGeom>
            <a:solidFill>
              <a:srgbClr val="FFC466"/>
            </a:solidFill>
            <a:ln w="38100" cap="sq">
              <a:solidFill>
                <a:srgbClr val="000000"/>
              </a:solidFill>
              <a:prstDash val="solid"/>
              <a:miter/>
            </a:ln>
          </p:spPr>
        </p:sp>
        <p:sp>
          <p:nvSpPr>
            <p:cNvPr name="TextBox 9" id="9"/>
            <p:cNvSpPr txBox="true"/>
            <p:nvPr/>
          </p:nvSpPr>
          <p:spPr>
            <a:xfrm>
              <a:off x="0" y="-47625"/>
              <a:ext cx="3268663" cy="770002"/>
            </a:xfrm>
            <a:prstGeom prst="rect">
              <a:avLst/>
            </a:prstGeom>
          </p:spPr>
          <p:txBody>
            <a:bodyPr anchor="ctr" rtlCol="false" tIns="50800" lIns="50800" bIns="50800" rIns="50800"/>
            <a:lstStyle/>
            <a:p>
              <a:pPr algn="ctr">
                <a:lnSpc>
                  <a:spcPts val="4199"/>
                </a:lnSpc>
                <a:spcBef>
                  <a:spcPct val="0"/>
                </a:spcBef>
              </a:pPr>
              <a:r>
                <a:rPr lang="en-US" sz="2999">
                  <a:solidFill>
                    <a:srgbClr val="000000"/>
                  </a:solidFill>
                  <a:latin typeface="Canva Sans"/>
                  <a:ea typeface="Canva Sans"/>
                  <a:cs typeface="Canva Sans"/>
                  <a:sym typeface="Canva Sans"/>
                </a:rPr>
                <a:t>Ý tưởng cơ bản của Kernel SVM và các phương pháp kernel nói chung là tìm một phép biến đổi sao cho dữ liệu ban đầu là không phân biệt tuyến tính được biến sang </a:t>
              </a:r>
              <a:r>
                <a:rPr lang="en-US" sz="2999">
                  <a:solidFill>
                    <a:srgbClr val="000000"/>
                  </a:solidFill>
                  <a:latin typeface="Canva Sans"/>
                  <a:ea typeface="Canva Sans"/>
                  <a:cs typeface="Canva Sans"/>
                  <a:sym typeface="Canva Sans"/>
                </a:rPr>
                <a:t>không gian mới. Ở không gian mới này, dữ liệu trở nên phân biệt tuyến tính.</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808" y="152144"/>
            <a:ext cx="6824448" cy="5766659"/>
          </a:xfrm>
          <a:custGeom>
            <a:avLst/>
            <a:gdLst/>
            <a:ahLst/>
            <a:cxnLst/>
            <a:rect r="r" b="b" t="t" l="l"/>
            <a:pathLst>
              <a:path h="5766659" w="6824448">
                <a:moveTo>
                  <a:pt x="0" y="0"/>
                </a:moveTo>
                <a:lnTo>
                  <a:pt x="6824448" y="0"/>
                </a:lnTo>
                <a:lnTo>
                  <a:pt x="6824448" y="5766659"/>
                </a:lnTo>
                <a:lnTo>
                  <a:pt x="0" y="5766659"/>
                </a:lnTo>
                <a:lnTo>
                  <a:pt x="0" y="0"/>
                </a:lnTo>
                <a:close/>
              </a:path>
            </a:pathLst>
          </a:custGeom>
          <a:blipFill>
            <a:blip r:embed="rId4"/>
            <a:stretch>
              <a:fillRect l="0" t="0" r="0" b="0"/>
            </a:stretch>
          </a:blipFill>
        </p:spPr>
      </p:sp>
      <p:sp>
        <p:nvSpPr>
          <p:cNvPr name="Freeform 4" id="4"/>
          <p:cNvSpPr/>
          <p:nvPr/>
        </p:nvSpPr>
        <p:spPr>
          <a:xfrm flipH="false" flipV="false" rot="0">
            <a:off x="1347890" y="6233128"/>
            <a:ext cx="4440285" cy="1024681"/>
          </a:xfrm>
          <a:custGeom>
            <a:avLst/>
            <a:gdLst/>
            <a:ahLst/>
            <a:cxnLst/>
            <a:rect r="r" b="b" t="t" l="l"/>
            <a:pathLst>
              <a:path h="1024681" w="4440285">
                <a:moveTo>
                  <a:pt x="0" y="0"/>
                </a:moveTo>
                <a:lnTo>
                  <a:pt x="4440285" y="0"/>
                </a:lnTo>
                <a:lnTo>
                  <a:pt x="4440285" y="1024681"/>
                </a:lnTo>
                <a:lnTo>
                  <a:pt x="0" y="1024681"/>
                </a:lnTo>
                <a:lnTo>
                  <a:pt x="0" y="0"/>
                </a:lnTo>
                <a:close/>
              </a:path>
            </a:pathLst>
          </a:custGeom>
          <a:blipFill>
            <a:blip r:embed="rId5"/>
            <a:stretch>
              <a:fillRect l="0" t="0" r="0" b="0"/>
            </a:stretch>
          </a:blipFill>
        </p:spPr>
      </p:sp>
      <p:grpSp>
        <p:nvGrpSpPr>
          <p:cNvPr name="Group 5" id="5"/>
          <p:cNvGrpSpPr/>
          <p:nvPr/>
        </p:nvGrpSpPr>
        <p:grpSpPr>
          <a:xfrm rot="0">
            <a:off x="155808" y="7572134"/>
            <a:ext cx="7114078" cy="2309551"/>
            <a:chOff x="0" y="0"/>
            <a:chExt cx="1873667" cy="608277"/>
          </a:xfrm>
        </p:grpSpPr>
        <p:sp>
          <p:nvSpPr>
            <p:cNvPr name="Freeform 6" id="6"/>
            <p:cNvSpPr/>
            <p:nvPr/>
          </p:nvSpPr>
          <p:spPr>
            <a:xfrm flipH="false" flipV="false" rot="0">
              <a:off x="0" y="0"/>
              <a:ext cx="1873667" cy="608277"/>
            </a:xfrm>
            <a:custGeom>
              <a:avLst/>
              <a:gdLst/>
              <a:ahLst/>
              <a:cxnLst/>
              <a:rect r="r" b="b" t="t" l="l"/>
              <a:pathLst>
                <a:path h="608277" w="1873667">
                  <a:moveTo>
                    <a:pt x="0" y="0"/>
                  </a:moveTo>
                  <a:lnTo>
                    <a:pt x="1873667" y="0"/>
                  </a:lnTo>
                  <a:lnTo>
                    <a:pt x="1873667" y="608277"/>
                  </a:lnTo>
                  <a:lnTo>
                    <a:pt x="0" y="608277"/>
                  </a:lnTo>
                  <a:close/>
                </a:path>
              </a:pathLst>
            </a:custGeom>
            <a:solidFill>
              <a:srgbClr val="FFC466"/>
            </a:solidFill>
            <a:ln w="38100" cap="sq">
              <a:solidFill>
                <a:srgbClr val="000000"/>
              </a:solidFill>
              <a:prstDash val="solid"/>
              <a:miter/>
            </a:ln>
          </p:spPr>
        </p:sp>
        <p:sp>
          <p:nvSpPr>
            <p:cNvPr name="TextBox 7" id="7"/>
            <p:cNvSpPr txBox="true"/>
            <p:nvPr/>
          </p:nvSpPr>
          <p:spPr>
            <a:xfrm>
              <a:off x="0" y="-57150"/>
              <a:ext cx="1873667" cy="665427"/>
            </a:xfrm>
            <a:prstGeom prst="rect">
              <a:avLst/>
            </a:prstGeom>
          </p:spPr>
          <p:txBody>
            <a:bodyPr anchor="ctr" rtlCol="false" tIns="50800" lIns="50800" bIns="50800" rIns="50800"/>
            <a:lstStyle/>
            <a:p>
              <a:pPr algn="ctr">
                <a:lnSpc>
                  <a:spcPts val="3639"/>
                </a:lnSpc>
                <a:spcBef>
                  <a:spcPct val="0"/>
                </a:spcBef>
              </a:pPr>
              <a:r>
                <a:rPr lang="en-US" sz="2599">
                  <a:solidFill>
                    <a:srgbClr val="000000"/>
                  </a:solidFill>
                  <a:latin typeface="Canva Sans"/>
                  <a:ea typeface="Canva Sans"/>
                  <a:cs typeface="Canva Sans"/>
                  <a:sym typeface="Canva Sans"/>
                </a:rPr>
                <a:t>Nghiệm tìm được không thật tốt vì có 3 trong 4 điểm nằm chính xác trên đường p</a:t>
              </a:r>
              <a:r>
                <a:rPr lang="en-US" sz="2599">
                  <a:solidFill>
                    <a:srgbClr val="000000"/>
                  </a:solidFill>
                  <a:latin typeface="Canva Sans"/>
                  <a:ea typeface="Canva Sans"/>
                  <a:cs typeface="Canva Sans"/>
                  <a:sym typeface="Canva Sans"/>
                </a:rPr>
                <a:t>hân chia. Nói cách khác, nghiệm này rất nhạy cảm với nhiễu.</a:t>
              </a:r>
            </a:p>
          </p:txBody>
        </p:sp>
      </p:grpSp>
      <p:sp>
        <p:nvSpPr>
          <p:cNvPr name="Freeform 8" id="8"/>
          <p:cNvSpPr/>
          <p:nvPr/>
        </p:nvSpPr>
        <p:spPr>
          <a:xfrm flipH="false" flipV="false" rot="0">
            <a:off x="7114078" y="1028700"/>
            <a:ext cx="11000557" cy="2683924"/>
          </a:xfrm>
          <a:custGeom>
            <a:avLst/>
            <a:gdLst/>
            <a:ahLst/>
            <a:cxnLst/>
            <a:rect r="r" b="b" t="t" l="l"/>
            <a:pathLst>
              <a:path h="2683924" w="11000557">
                <a:moveTo>
                  <a:pt x="0" y="0"/>
                </a:moveTo>
                <a:lnTo>
                  <a:pt x="11000558" y="0"/>
                </a:lnTo>
                <a:lnTo>
                  <a:pt x="11000558" y="2683924"/>
                </a:lnTo>
                <a:lnTo>
                  <a:pt x="0" y="2683924"/>
                </a:lnTo>
                <a:lnTo>
                  <a:pt x="0" y="0"/>
                </a:lnTo>
                <a:close/>
              </a:path>
            </a:pathLst>
          </a:custGeom>
          <a:blipFill>
            <a:blip r:embed="rId6"/>
            <a:stretch>
              <a:fillRect l="0" t="0" r="0" b="0"/>
            </a:stretch>
          </a:blipFill>
        </p:spPr>
      </p:sp>
      <p:sp>
        <p:nvSpPr>
          <p:cNvPr name="Freeform 9" id="9"/>
          <p:cNvSpPr/>
          <p:nvPr/>
        </p:nvSpPr>
        <p:spPr>
          <a:xfrm flipH="false" flipV="false" rot="0">
            <a:off x="7528665" y="4249708"/>
            <a:ext cx="10171385" cy="3966840"/>
          </a:xfrm>
          <a:custGeom>
            <a:avLst/>
            <a:gdLst/>
            <a:ahLst/>
            <a:cxnLst/>
            <a:rect r="r" b="b" t="t" l="l"/>
            <a:pathLst>
              <a:path h="3966840" w="10171385">
                <a:moveTo>
                  <a:pt x="0" y="0"/>
                </a:moveTo>
                <a:lnTo>
                  <a:pt x="10171384" y="0"/>
                </a:lnTo>
                <a:lnTo>
                  <a:pt x="10171384" y="3966840"/>
                </a:lnTo>
                <a:lnTo>
                  <a:pt x="0" y="3966840"/>
                </a:lnTo>
                <a:lnTo>
                  <a:pt x="0" y="0"/>
                </a:lnTo>
                <a:close/>
              </a:path>
            </a:pathLst>
          </a:custGeom>
          <a:blipFill>
            <a:blip r:embed="rId7"/>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85772" y="2574858"/>
            <a:ext cx="13025728" cy="5137283"/>
          </a:xfrm>
          <a:custGeom>
            <a:avLst/>
            <a:gdLst/>
            <a:ahLst/>
            <a:cxnLst/>
            <a:rect r="r" b="b" t="t" l="l"/>
            <a:pathLst>
              <a:path h="5137283" w="13025728">
                <a:moveTo>
                  <a:pt x="0" y="0"/>
                </a:moveTo>
                <a:lnTo>
                  <a:pt x="13025728" y="0"/>
                </a:lnTo>
                <a:lnTo>
                  <a:pt x="13025728" y="5137284"/>
                </a:lnTo>
                <a:lnTo>
                  <a:pt x="0" y="5137284"/>
                </a:lnTo>
                <a:lnTo>
                  <a:pt x="0" y="0"/>
                </a:lnTo>
                <a:close/>
              </a:path>
            </a:pathLst>
          </a:custGeom>
          <a:blipFill>
            <a:blip r:embed="rId4"/>
            <a:stretch>
              <a:fillRect l="0" t="0" r="0" b="-33749"/>
            </a:stretch>
          </a:blipFill>
        </p:spPr>
      </p:sp>
      <p:sp>
        <p:nvSpPr>
          <p:cNvPr name="TextBox 4" id="4"/>
          <p:cNvSpPr txBox="true"/>
          <p:nvPr/>
        </p:nvSpPr>
        <p:spPr>
          <a:xfrm rot="0">
            <a:off x="2285772" y="181499"/>
            <a:ext cx="13739234" cy="1181100"/>
          </a:xfrm>
          <a:prstGeom prst="rect">
            <a:avLst/>
          </a:prstGeom>
        </p:spPr>
        <p:txBody>
          <a:bodyPr anchor="t" rtlCol="false" tIns="0" lIns="0" bIns="0" rIns="0">
            <a:spAutoFit/>
          </a:bodyPr>
          <a:lstStyle/>
          <a:p>
            <a:pPr algn="l">
              <a:lnSpc>
                <a:spcPts val="9015"/>
              </a:lnSpc>
              <a:spcBef>
                <a:spcPct val="0"/>
              </a:spcBef>
            </a:pPr>
            <a:r>
              <a:rPr lang="en-US" sz="7512">
                <a:solidFill>
                  <a:srgbClr val="AECA63"/>
                </a:solidFill>
                <a:latin typeface="Arial"/>
                <a:ea typeface="Arial"/>
                <a:cs typeface="Arial"/>
                <a:sym typeface="Arial"/>
              </a:rPr>
              <a:t>Nhắc lại về tính chất của kernel</a:t>
            </a:r>
          </a:p>
        </p:txBody>
      </p:sp>
      <p:grpSp>
        <p:nvGrpSpPr>
          <p:cNvPr name="Group 5" id="5"/>
          <p:cNvGrpSpPr/>
          <p:nvPr/>
        </p:nvGrpSpPr>
        <p:grpSpPr>
          <a:xfrm rot="0">
            <a:off x="12088178" y="8487728"/>
            <a:ext cx="490538" cy="610552"/>
            <a:chOff x="0" y="0"/>
            <a:chExt cx="654050" cy="814070"/>
          </a:xfrm>
        </p:grpSpPr>
        <p:sp>
          <p:nvSpPr>
            <p:cNvPr name="Freeform 6" id="6"/>
            <p:cNvSpPr/>
            <p:nvPr/>
          </p:nvSpPr>
          <p:spPr>
            <a:xfrm flipH="false" flipV="false" rot="0">
              <a:off x="50302" y="47675"/>
              <a:ext cx="558669" cy="718810"/>
            </a:xfrm>
            <a:custGeom>
              <a:avLst/>
              <a:gdLst/>
              <a:ahLst/>
              <a:cxnLst/>
              <a:rect r="r" b="b" t="t" l="l"/>
              <a:pathLst>
                <a:path h="718810" w="558669">
                  <a:moveTo>
                    <a:pt x="498" y="433655"/>
                  </a:moveTo>
                  <a:cubicBezTo>
                    <a:pt x="1768" y="321895"/>
                    <a:pt x="-3312" y="297765"/>
                    <a:pt x="4308" y="271095"/>
                  </a:cubicBezTo>
                  <a:cubicBezTo>
                    <a:pt x="13198" y="239345"/>
                    <a:pt x="33518" y="192355"/>
                    <a:pt x="56378" y="174575"/>
                  </a:cubicBezTo>
                  <a:cubicBezTo>
                    <a:pt x="75428" y="160605"/>
                    <a:pt x="109718" y="174575"/>
                    <a:pt x="124958" y="160605"/>
                  </a:cubicBezTo>
                  <a:cubicBezTo>
                    <a:pt x="140198" y="144095"/>
                    <a:pt x="128768" y="103455"/>
                    <a:pt x="144008" y="80595"/>
                  </a:cubicBezTo>
                  <a:cubicBezTo>
                    <a:pt x="164328" y="50115"/>
                    <a:pt x="216398" y="12015"/>
                    <a:pt x="250688" y="3125"/>
                  </a:cubicBezTo>
                  <a:cubicBezTo>
                    <a:pt x="277358" y="-4495"/>
                    <a:pt x="304028" y="3125"/>
                    <a:pt x="329428" y="12015"/>
                  </a:cubicBezTo>
                  <a:cubicBezTo>
                    <a:pt x="354828" y="20905"/>
                    <a:pt x="380228" y="42495"/>
                    <a:pt x="401818" y="59005"/>
                  </a:cubicBezTo>
                  <a:cubicBezTo>
                    <a:pt x="424678" y="76785"/>
                    <a:pt x="453888" y="100915"/>
                    <a:pt x="461508" y="116155"/>
                  </a:cubicBezTo>
                  <a:cubicBezTo>
                    <a:pt x="466588" y="123775"/>
                    <a:pt x="462778" y="133935"/>
                    <a:pt x="465318" y="135205"/>
                  </a:cubicBezTo>
                  <a:cubicBezTo>
                    <a:pt x="466588" y="136475"/>
                    <a:pt x="467858" y="135205"/>
                    <a:pt x="469128" y="135205"/>
                  </a:cubicBezTo>
                  <a:cubicBezTo>
                    <a:pt x="469128" y="135205"/>
                    <a:pt x="475478" y="137745"/>
                    <a:pt x="479288" y="137745"/>
                  </a:cubicBezTo>
                  <a:cubicBezTo>
                    <a:pt x="483098" y="139015"/>
                    <a:pt x="489448" y="140285"/>
                    <a:pt x="489448" y="140285"/>
                  </a:cubicBezTo>
                  <a:cubicBezTo>
                    <a:pt x="489448" y="140285"/>
                    <a:pt x="495798" y="144095"/>
                    <a:pt x="499608" y="145365"/>
                  </a:cubicBezTo>
                  <a:cubicBezTo>
                    <a:pt x="502148" y="147905"/>
                    <a:pt x="508498" y="150445"/>
                    <a:pt x="508498" y="150445"/>
                  </a:cubicBezTo>
                  <a:cubicBezTo>
                    <a:pt x="508498" y="150445"/>
                    <a:pt x="513578" y="155525"/>
                    <a:pt x="516118" y="158065"/>
                  </a:cubicBezTo>
                  <a:cubicBezTo>
                    <a:pt x="518658" y="160605"/>
                    <a:pt x="525008" y="164415"/>
                    <a:pt x="525008" y="165685"/>
                  </a:cubicBezTo>
                  <a:cubicBezTo>
                    <a:pt x="525008" y="165685"/>
                    <a:pt x="528818" y="170765"/>
                    <a:pt x="531358" y="174575"/>
                  </a:cubicBezTo>
                  <a:cubicBezTo>
                    <a:pt x="532628" y="177115"/>
                    <a:pt x="536438" y="182195"/>
                    <a:pt x="536438" y="183465"/>
                  </a:cubicBezTo>
                  <a:cubicBezTo>
                    <a:pt x="536438" y="183465"/>
                    <a:pt x="538978" y="189815"/>
                    <a:pt x="540248" y="192355"/>
                  </a:cubicBezTo>
                  <a:cubicBezTo>
                    <a:pt x="541518" y="196165"/>
                    <a:pt x="544058" y="202515"/>
                    <a:pt x="544058" y="202515"/>
                  </a:cubicBezTo>
                  <a:cubicBezTo>
                    <a:pt x="544058" y="202515"/>
                    <a:pt x="545328" y="210135"/>
                    <a:pt x="545328" y="213945"/>
                  </a:cubicBezTo>
                  <a:cubicBezTo>
                    <a:pt x="546598" y="217755"/>
                    <a:pt x="546598" y="224105"/>
                    <a:pt x="546598" y="224105"/>
                  </a:cubicBezTo>
                  <a:cubicBezTo>
                    <a:pt x="546598" y="225375"/>
                    <a:pt x="546598" y="281255"/>
                    <a:pt x="546598" y="311735"/>
                  </a:cubicBezTo>
                  <a:cubicBezTo>
                    <a:pt x="546598" y="343485"/>
                    <a:pt x="546598" y="376505"/>
                    <a:pt x="546598" y="409525"/>
                  </a:cubicBezTo>
                  <a:cubicBezTo>
                    <a:pt x="546598" y="442545"/>
                    <a:pt x="546598" y="473025"/>
                    <a:pt x="546598" y="508585"/>
                  </a:cubicBezTo>
                  <a:cubicBezTo>
                    <a:pt x="547868" y="551765"/>
                    <a:pt x="569458" y="619075"/>
                    <a:pt x="551678" y="653365"/>
                  </a:cubicBezTo>
                  <a:cubicBezTo>
                    <a:pt x="536438" y="683845"/>
                    <a:pt x="491988" y="701625"/>
                    <a:pt x="461508" y="711785"/>
                  </a:cubicBezTo>
                  <a:cubicBezTo>
                    <a:pt x="434838" y="720675"/>
                    <a:pt x="406898" y="720675"/>
                    <a:pt x="377688" y="714325"/>
                  </a:cubicBezTo>
                  <a:cubicBezTo>
                    <a:pt x="345938" y="707975"/>
                    <a:pt x="288788" y="678765"/>
                    <a:pt x="278628" y="669875"/>
                  </a:cubicBezTo>
                  <a:cubicBezTo>
                    <a:pt x="276088" y="668605"/>
                    <a:pt x="277358" y="666065"/>
                    <a:pt x="274818" y="664795"/>
                  </a:cubicBezTo>
                  <a:cubicBezTo>
                    <a:pt x="269738" y="662255"/>
                    <a:pt x="246878" y="662255"/>
                    <a:pt x="241798" y="664795"/>
                  </a:cubicBezTo>
                  <a:cubicBezTo>
                    <a:pt x="239258" y="667335"/>
                    <a:pt x="239258" y="671145"/>
                    <a:pt x="237988" y="672415"/>
                  </a:cubicBezTo>
                  <a:cubicBezTo>
                    <a:pt x="236718" y="673685"/>
                    <a:pt x="235448" y="674955"/>
                    <a:pt x="235448" y="676225"/>
                  </a:cubicBezTo>
                  <a:cubicBezTo>
                    <a:pt x="234178" y="677495"/>
                    <a:pt x="234178" y="678765"/>
                    <a:pt x="232908" y="680035"/>
                  </a:cubicBezTo>
                  <a:cubicBezTo>
                    <a:pt x="230368" y="682575"/>
                    <a:pt x="227828" y="685115"/>
                    <a:pt x="225288" y="687655"/>
                  </a:cubicBezTo>
                  <a:cubicBezTo>
                    <a:pt x="222748" y="688925"/>
                    <a:pt x="221478" y="692735"/>
                    <a:pt x="218938" y="694005"/>
                  </a:cubicBezTo>
                  <a:cubicBezTo>
                    <a:pt x="217668" y="695275"/>
                    <a:pt x="216398" y="696545"/>
                    <a:pt x="215128" y="696545"/>
                  </a:cubicBezTo>
                  <a:cubicBezTo>
                    <a:pt x="213858" y="697815"/>
                    <a:pt x="212588" y="699085"/>
                    <a:pt x="211318" y="700355"/>
                  </a:cubicBezTo>
                  <a:cubicBezTo>
                    <a:pt x="208778" y="701625"/>
                    <a:pt x="204968" y="702895"/>
                    <a:pt x="202428" y="704165"/>
                  </a:cubicBezTo>
                  <a:cubicBezTo>
                    <a:pt x="199888" y="705435"/>
                    <a:pt x="196078" y="707975"/>
                    <a:pt x="193538" y="709245"/>
                  </a:cubicBezTo>
                  <a:cubicBezTo>
                    <a:pt x="192268" y="709245"/>
                    <a:pt x="190998" y="709245"/>
                    <a:pt x="189728" y="710515"/>
                  </a:cubicBezTo>
                  <a:cubicBezTo>
                    <a:pt x="187188" y="710515"/>
                    <a:pt x="185918" y="711785"/>
                    <a:pt x="184648" y="711785"/>
                  </a:cubicBezTo>
                  <a:cubicBezTo>
                    <a:pt x="182108" y="713055"/>
                    <a:pt x="178298" y="713055"/>
                    <a:pt x="174488" y="713055"/>
                  </a:cubicBezTo>
                  <a:cubicBezTo>
                    <a:pt x="171948" y="713055"/>
                    <a:pt x="168138" y="714325"/>
                    <a:pt x="165598" y="715595"/>
                  </a:cubicBezTo>
                  <a:cubicBezTo>
                    <a:pt x="163058" y="715595"/>
                    <a:pt x="161788" y="714325"/>
                    <a:pt x="160518" y="714325"/>
                  </a:cubicBezTo>
                  <a:cubicBezTo>
                    <a:pt x="159248" y="714325"/>
                    <a:pt x="157978" y="715595"/>
                    <a:pt x="155438" y="714325"/>
                  </a:cubicBezTo>
                  <a:cubicBezTo>
                    <a:pt x="152898" y="714325"/>
                    <a:pt x="149088" y="713055"/>
                    <a:pt x="146548" y="713055"/>
                  </a:cubicBezTo>
                  <a:cubicBezTo>
                    <a:pt x="142738" y="711785"/>
                    <a:pt x="138928" y="711785"/>
                    <a:pt x="136388" y="711785"/>
                  </a:cubicBezTo>
                  <a:cubicBezTo>
                    <a:pt x="135118" y="710515"/>
                    <a:pt x="133848" y="709245"/>
                    <a:pt x="132578" y="709245"/>
                  </a:cubicBezTo>
                  <a:cubicBezTo>
                    <a:pt x="131308" y="709245"/>
                    <a:pt x="128768" y="709245"/>
                    <a:pt x="127498" y="707975"/>
                  </a:cubicBezTo>
                  <a:cubicBezTo>
                    <a:pt x="124958" y="706705"/>
                    <a:pt x="122418" y="704165"/>
                    <a:pt x="118608" y="702895"/>
                  </a:cubicBezTo>
                  <a:cubicBezTo>
                    <a:pt x="116068" y="701625"/>
                    <a:pt x="112258" y="700355"/>
                    <a:pt x="110988" y="699085"/>
                  </a:cubicBezTo>
                  <a:cubicBezTo>
                    <a:pt x="108448" y="697815"/>
                    <a:pt x="108448" y="696545"/>
                    <a:pt x="107178" y="695275"/>
                  </a:cubicBezTo>
                  <a:cubicBezTo>
                    <a:pt x="105908" y="694005"/>
                    <a:pt x="104638" y="694005"/>
                    <a:pt x="103368" y="692735"/>
                  </a:cubicBezTo>
                  <a:cubicBezTo>
                    <a:pt x="100828" y="691465"/>
                    <a:pt x="98288" y="687655"/>
                    <a:pt x="97018" y="685115"/>
                  </a:cubicBezTo>
                  <a:cubicBezTo>
                    <a:pt x="94478" y="682575"/>
                    <a:pt x="90668" y="681305"/>
                    <a:pt x="89398" y="678765"/>
                  </a:cubicBezTo>
                  <a:cubicBezTo>
                    <a:pt x="88128" y="677495"/>
                    <a:pt x="88128" y="676225"/>
                    <a:pt x="86858" y="673685"/>
                  </a:cubicBezTo>
                  <a:cubicBezTo>
                    <a:pt x="86858" y="672415"/>
                    <a:pt x="85588" y="672415"/>
                    <a:pt x="84318" y="669875"/>
                  </a:cubicBezTo>
                  <a:cubicBezTo>
                    <a:pt x="83048" y="668605"/>
                    <a:pt x="81778" y="664795"/>
                    <a:pt x="80508" y="660985"/>
                  </a:cubicBezTo>
                  <a:cubicBezTo>
                    <a:pt x="79238" y="658445"/>
                    <a:pt x="76698" y="655905"/>
                    <a:pt x="76698" y="653365"/>
                  </a:cubicBezTo>
                  <a:cubicBezTo>
                    <a:pt x="75428" y="650825"/>
                    <a:pt x="76698" y="649555"/>
                    <a:pt x="75428" y="648285"/>
                  </a:cubicBezTo>
                  <a:cubicBezTo>
                    <a:pt x="75428" y="645745"/>
                    <a:pt x="74158" y="644475"/>
                    <a:pt x="74158" y="643205"/>
                  </a:cubicBezTo>
                  <a:cubicBezTo>
                    <a:pt x="74158" y="641935"/>
                    <a:pt x="74158" y="639395"/>
                    <a:pt x="74158" y="636855"/>
                  </a:cubicBezTo>
                  <a:cubicBezTo>
                    <a:pt x="72888" y="635585"/>
                    <a:pt x="71618" y="635585"/>
                    <a:pt x="70348" y="634315"/>
                  </a:cubicBezTo>
                  <a:cubicBezTo>
                    <a:pt x="67808" y="633045"/>
                    <a:pt x="61458" y="629235"/>
                    <a:pt x="61458" y="629235"/>
                  </a:cubicBezTo>
                  <a:cubicBezTo>
                    <a:pt x="61458" y="627965"/>
                    <a:pt x="56378" y="622885"/>
                    <a:pt x="53838" y="620345"/>
                  </a:cubicBezTo>
                  <a:cubicBezTo>
                    <a:pt x="51298" y="617805"/>
                    <a:pt x="47488" y="612725"/>
                    <a:pt x="46218" y="612725"/>
                  </a:cubicBezTo>
                  <a:cubicBezTo>
                    <a:pt x="46218" y="612725"/>
                    <a:pt x="43678" y="606375"/>
                    <a:pt x="42408" y="602565"/>
                  </a:cubicBezTo>
                  <a:cubicBezTo>
                    <a:pt x="39868" y="600025"/>
                    <a:pt x="37328" y="593675"/>
                    <a:pt x="37328" y="593675"/>
                  </a:cubicBezTo>
                  <a:cubicBezTo>
                    <a:pt x="37328" y="593675"/>
                    <a:pt x="34788" y="586055"/>
                    <a:pt x="34788" y="583515"/>
                  </a:cubicBezTo>
                  <a:cubicBezTo>
                    <a:pt x="33518" y="580975"/>
                    <a:pt x="33518" y="579705"/>
                    <a:pt x="32248" y="577165"/>
                  </a:cubicBezTo>
                  <a:cubicBezTo>
                    <a:pt x="29708" y="573355"/>
                    <a:pt x="19548" y="570815"/>
                    <a:pt x="14468" y="561925"/>
                  </a:cubicBezTo>
                  <a:cubicBezTo>
                    <a:pt x="3038" y="540335"/>
                    <a:pt x="498" y="433655"/>
                    <a:pt x="498" y="433655"/>
                  </a:cubicBezTo>
                  <a:moveTo>
                    <a:pt x="254498" y="144095"/>
                  </a:moveTo>
                  <a:cubicBezTo>
                    <a:pt x="264658" y="192355"/>
                    <a:pt x="269738" y="192355"/>
                    <a:pt x="272278" y="194895"/>
                  </a:cubicBezTo>
                  <a:cubicBezTo>
                    <a:pt x="273548" y="194895"/>
                    <a:pt x="274818" y="198705"/>
                    <a:pt x="276088" y="197435"/>
                  </a:cubicBezTo>
                  <a:cubicBezTo>
                    <a:pt x="277358" y="197435"/>
                    <a:pt x="254498" y="144095"/>
                    <a:pt x="254498" y="144095"/>
                  </a:cubicBezTo>
                </a:path>
              </a:pathLst>
            </a:custGeom>
            <a:solidFill>
              <a:srgbClr val="FFFFFF"/>
            </a:solidFill>
            <a:ln cap="sq">
              <a:noFill/>
              <a:prstDash val="solid"/>
              <a:miter/>
            </a:ln>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2042" y="1284886"/>
            <a:ext cx="6824448" cy="5766659"/>
          </a:xfrm>
          <a:custGeom>
            <a:avLst/>
            <a:gdLst/>
            <a:ahLst/>
            <a:cxnLst/>
            <a:rect r="r" b="b" t="t" l="l"/>
            <a:pathLst>
              <a:path h="5766659" w="6824448">
                <a:moveTo>
                  <a:pt x="0" y="0"/>
                </a:moveTo>
                <a:lnTo>
                  <a:pt x="6824449" y="0"/>
                </a:lnTo>
                <a:lnTo>
                  <a:pt x="6824449" y="5766659"/>
                </a:lnTo>
                <a:lnTo>
                  <a:pt x="0" y="5766659"/>
                </a:lnTo>
                <a:lnTo>
                  <a:pt x="0" y="0"/>
                </a:lnTo>
                <a:close/>
              </a:path>
            </a:pathLst>
          </a:custGeom>
          <a:blipFill>
            <a:blip r:embed="rId4"/>
            <a:stretch>
              <a:fillRect l="0" t="0" r="0" b="0"/>
            </a:stretch>
          </a:blipFill>
        </p:spPr>
      </p:sp>
      <p:sp>
        <p:nvSpPr>
          <p:cNvPr name="Freeform 4" id="4"/>
          <p:cNvSpPr/>
          <p:nvPr/>
        </p:nvSpPr>
        <p:spPr>
          <a:xfrm flipH="false" flipV="false" rot="0">
            <a:off x="1028700" y="7308932"/>
            <a:ext cx="4440285" cy="1024681"/>
          </a:xfrm>
          <a:custGeom>
            <a:avLst/>
            <a:gdLst/>
            <a:ahLst/>
            <a:cxnLst/>
            <a:rect r="r" b="b" t="t" l="l"/>
            <a:pathLst>
              <a:path h="1024681" w="4440285">
                <a:moveTo>
                  <a:pt x="0" y="0"/>
                </a:moveTo>
                <a:lnTo>
                  <a:pt x="4440285" y="0"/>
                </a:lnTo>
                <a:lnTo>
                  <a:pt x="4440285" y="1024681"/>
                </a:lnTo>
                <a:lnTo>
                  <a:pt x="0" y="1024681"/>
                </a:lnTo>
                <a:lnTo>
                  <a:pt x="0" y="0"/>
                </a:lnTo>
                <a:close/>
              </a:path>
            </a:pathLst>
          </a:custGeom>
          <a:blipFill>
            <a:blip r:embed="rId5"/>
            <a:stretch>
              <a:fillRect l="0" t="0" r="0" b="0"/>
            </a:stretch>
          </a:blipFill>
        </p:spPr>
      </p:sp>
      <p:sp>
        <p:nvSpPr>
          <p:cNvPr name="Freeform 5" id="5"/>
          <p:cNvSpPr/>
          <p:nvPr/>
        </p:nvSpPr>
        <p:spPr>
          <a:xfrm flipH="false" flipV="false" rot="0">
            <a:off x="7188311" y="2761489"/>
            <a:ext cx="10622003" cy="4764021"/>
          </a:xfrm>
          <a:custGeom>
            <a:avLst/>
            <a:gdLst/>
            <a:ahLst/>
            <a:cxnLst/>
            <a:rect r="r" b="b" t="t" l="l"/>
            <a:pathLst>
              <a:path h="4764021" w="10622003">
                <a:moveTo>
                  <a:pt x="0" y="0"/>
                </a:moveTo>
                <a:lnTo>
                  <a:pt x="10622003" y="0"/>
                </a:lnTo>
                <a:lnTo>
                  <a:pt x="10622003" y="4764022"/>
                </a:lnTo>
                <a:lnTo>
                  <a:pt x="0" y="4764022"/>
                </a:lnTo>
                <a:lnTo>
                  <a:pt x="0" y="0"/>
                </a:lnTo>
                <a:close/>
              </a:path>
            </a:pathLst>
          </a:custGeom>
          <a:blipFill>
            <a:blip r:embed="rId6"/>
            <a:stretch>
              <a:fillRect l="0" t="0" r="0" b="0"/>
            </a:stretch>
          </a:blipFill>
        </p:spPr>
      </p:sp>
      <p:grpSp>
        <p:nvGrpSpPr>
          <p:cNvPr name="Group 6" id="6"/>
          <p:cNvGrpSpPr/>
          <p:nvPr/>
        </p:nvGrpSpPr>
        <p:grpSpPr>
          <a:xfrm rot="0">
            <a:off x="8768894" y="1284886"/>
            <a:ext cx="7460836" cy="1315513"/>
            <a:chOff x="0" y="0"/>
            <a:chExt cx="1964994" cy="346473"/>
          </a:xfrm>
        </p:grpSpPr>
        <p:sp>
          <p:nvSpPr>
            <p:cNvPr name="Freeform 7" id="7"/>
            <p:cNvSpPr/>
            <p:nvPr/>
          </p:nvSpPr>
          <p:spPr>
            <a:xfrm flipH="false" flipV="false" rot="0">
              <a:off x="0" y="0"/>
              <a:ext cx="1964994" cy="346473"/>
            </a:xfrm>
            <a:custGeom>
              <a:avLst/>
              <a:gdLst/>
              <a:ahLst/>
              <a:cxnLst/>
              <a:rect r="r" b="b" t="t" l="l"/>
              <a:pathLst>
                <a:path h="346473" w="1964994">
                  <a:moveTo>
                    <a:pt x="0" y="0"/>
                  </a:moveTo>
                  <a:lnTo>
                    <a:pt x="1964994" y="0"/>
                  </a:lnTo>
                  <a:lnTo>
                    <a:pt x="1964994" y="346473"/>
                  </a:lnTo>
                  <a:lnTo>
                    <a:pt x="0" y="346473"/>
                  </a:lnTo>
                  <a:close/>
                </a:path>
              </a:pathLst>
            </a:custGeom>
            <a:solidFill>
              <a:srgbClr val="FFC466"/>
            </a:solidFill>
            <a:ln w="38100" cap="sq">
              <a:solidFill>
                <a:srgbClr val="000000"/>
              </a:solidFill>
              <a:prstDash val="solid"/>
              <a:miter/>
            </a:ln>
          </p:spPr>
        </p:sp>
        <p:sp>
          <p:nvSpPr>
            <p:cNvPr name="TextBox 8" id="8"/>
            <p:cNvSpPr txBox="true"/>
            <p:nvPr/>
          </p:nvSpPr>
          <p:spPr>
            <a:xfrm>
              <a:off x="0" y="-57150"/>
              <a:ext cx="1964994" cy="403623"/>
            </a:xfrm>
            <a:prstGeom prst="rect">
              <a:avLst/>
            </a:prstGeom>
          </p:spPr>
          <p:txBody>
            <a:bodyPr anchor="ctr" rtlCol="false" tIns="50800" lIns="50800" bIns="50800" rIns="50800"/>
            <a:lstStyle/>
            <a:p>
              <a:pPr algn="ctr">
                <a:lnSpc>
                  <a:spcPts val="3639"/>
                </a:lnSpc>
                <a:spcBef>
                  <a:spcPct val="0"/>
                </a:spcBef>
              </a:pPr>
              <a:r>
                <a:rPr lang="en-US" sz="2599">
                  <a:solidFill>
                    <a:srgbClr val="000000"/>
                  </a:solidFill>
                  <a:latin typeface="Canva Sans"/>
                  <a:ea typeface="Canva Sans"/>
                  <a:cs typeface="Canva Sans"/>
                  <a:sym typeface="Canva Sans"/>
                </a:rPr>
                <a:t>Có</a:t>
              </a:r>
              <a:r>
                <a:rPr lang="en-US" sz="2599">
                  <a:solidFill>
                    <a:srgbClr val="000000"/>
                  </a:solidFill>
                  <a:latin typeface="Canva Sans"/>
                  <a:ea typeface="Canva Sans"/>
                  <a:cs typeface="Canva Sans"/>
                  <a:sym typeface="Canva Sans"/>
                </a:rPr>
                <a:t> thể được khai triển thành chuỗi Tayl</a:t>
              </a:r>
              <a:r>
                <a:rPr lang="en-US" sz="2599" u="none">
                  <a:solidFill>
                    <a:srgbClr val="000000"/>
                  </a:solidFill>
                  <a:latin typeface="Canva Sans"/>
                  <a:ea typeface="Canva Sans"/>
                  <a:cs typeface="Canva Sans"/>
                  <a:sym typeface="Canva Sans"/>
                </a:rPr>
                <a:t>or</a:t>
              </a:r>
              <a:r>
                <a:rPr lang="en-US" sz="2599">
                  <a:solidFill>
                    <a:srgbClr val="000000"/>
                  </a:solidFill>
                  <a:latin typeface="Canva Sans"/>
                  <a:ea typeface="Canva Sans"/>
                  <a:cs typeface="Canva Sans"/>
                  <a:sym typeface="Canva Sans"/>
                </a:rPr>
                <a:t> (Maclaur</a:t>
              </a:r>
              <a:r>
                <a:rPr lang="en-US" sz="2599" u="none">
                  <a:solidFill>
                    <a:srgbClr val="000000"/>
                  </a:solidFill>
                  <a:latin typeface="Canva Sans"/>
                  <a:ea typeface="Canva Sans"/>
                  <a:cs typeface="Canva Sans"/>
                  <a:sym typeface="Canva Sans"/>
                </a:rPr>
                <a:t>i</a:t>
              </a:r>
              <a:r>
                <a:rPr lang="en-US" sz="2599">
                  <a:solidFill>
                    <a:srgbClr val="000000"/>
                  </a:solidFill>
                  <a:latin typeface="Canva Sans"/>
                  <a:ea typeface="Canva Sans"/>
                  <a:cs typeface="Canva Sans"/>
                  <a:sym typeface="Canva Sans"/>
                </a:rPr>
                <a:t>n) </a:t>
              </a:r>
              <a:r>
                <a:rPr lang="en-US" sz="2599" u="none">
                  <a:solidFill>
                    <a:srgbClr val="000000"/>
                  </a:solidFill>
                  <a:latin typeface="Canva Sans"/>
                  <a:ea typeface="Canva Sans"/>
                  <a:cs typeface="Canva Sans"/>
                  <a:sym typeface="Canva Sans"/>
                </a:rPr>
                <a:t>t</a:t>
              </a:r>
              <a:r>
                <a:rPr lang="en-US" sz="2599">
                  <a:solidFill>
                    <a:srgbClr val="000000"/>
                  </a:solidFill>
                  <a:latin typeface="Canva Sans"/>
                  <a:ea typeface="Canva Sans"/>
                  <a:cs typeface="Canva Sans"/>
                  <a:sym typeface="Canva Sans"/>
                </a:rPr>
                <a:t>ớ</a:t>
              </a:r>
              <a:r>
                <a:rPr lang="en-US" sz="2599" u="none">
                  <a:solidFill>
                    <a:srgbClr val="000000"/>
                  </a:solidFill>
                  <a:latin typeface="Canva Sans"/>
                  <a:ea typeface="Canva Sans"/>
                  <a:cs typeface="Canva Sans"/>
                  <a:sym typeface="Canva Sans"/>
                </a:rPr>
                <a:t>i</a:t>
              </a:r>
              <a:r>
                <a:rPr lang="en-US" sz="2599">
                  <a:solidFill>
                    <a:srgbClr val="000000"/>
                  </a:solidFill>
                  <a:latin typeface="Canva Sans"/>
                  <a:ea typeface="Canva Sans"/>
                  <a:cs typeface="Canva Sans"/>
                  <a:sym typeface="Canva Sans"/>
                </a:rPr>
                <a:t> vô tậ</a:t>
              </a:r>
              <a:r>
                <a:rPr lang="en-US" sz="2599" u="none">
                  <a:solidFill>
                    <a:srgbClr val="000000"/>
                  </a:solidFill>
                  <a:latin typeface="Canva Sans"/>
                  <a:ea typeface="Canva Sans"/>
                  <a:cs typeface="Canva Sans"/>
                  <a:sym typeface="Canva Sans"/>
                </a:rPr>
                <a:t>n</a:t>
              </a:r>
              <a:r>
                <a:rPr lang="en-US" sz="2599">
                  <a:solidFill>
                    <a:srgbClr val="000000"/>
                  </a:solidFill>
                  <a:latin typeface="Canva Sans"/>
                  <a:ea typeface="Canva Sans"/>
                  <a:cs typeface="Canva Sans"/>
                  <a:sym typeface="Canva Sans"/>
                </a:rPr>
                <a:t>: </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812900" y="8138069"/>
            <a:ext cx="12662201" cy="1120231"/>
            <a:chOff x="0" y="0"/>
            <a:chExt cx="3334901" cy="295040"/>
          </a:xfrm>
        </p:grpSpPr>
        <p:sp>
          <p:nvSpPr>
            <p:cNvPr name="Freeform 4" id="4"/>
            <p:cNvSpPr/>
            <p:nvPr/>
          </p:nvSpPr>
          <p:spPr>
            <a:xfrm flipH="false" flipV="false" rot="0">
              <a:off x="0" y="0"/>
              <a:ext cx="3334901" cy="295040"/>
            </a:xfrm>
            <a:custGeom>
              <a:avLst/>
              <a:gdLst/>
              <a:ahLst/>
              <a:cxnLst/>
              <a:rect r="r" b="b" t="t" l="l"/>
              <a:pathLst>
                <a:path h="295040" w="3334901">
                  <a:moveTo>
                    <a:pt x="0" y="0"/>
                  </a:moveTo>
                  <a:lnTo>
                    <a:pt x="3334901" y="0"/>
                  </a:lnTo>
                  <a:lnTo>
                    <a:pt x="3334901" y="295040"/>
                  </a:lnTo>
                  <a:lnTo>
                    <a:pt x="0" y="295040"/>
                  </a:lnTo>
                  <a:close/>
                </a:path>
              </a:pathLst>
            </a:custGeom>
            <a:solidFill>
              <a:srgbClr val="FFC466"/>
            </a:solidFill>
            <a:ln w="38100" cap="sq">
              <a:solidFill>
                <a:srgbClr val="000000"/>
              </a:solidFill>
              <a:prstDash val="solid"/>
              <a:miter/>
            </a:ln>
          </p:spPr>
        </p:sp>
        <p:sp>
          <p:nvSpPr>
            <p:cNvPr name="TextBox 5" id="5"/>
            <p:cNvSpPr txBox="true"/>
            <p:nvPr/>
          </p:nvSpPr>
          <p:spPr>
            <a:xfrm>
              <a:off x="0" y="-57150"/>
              <a:ext cx="3334901" cy="352190"/>
            </a:xfrm>
            <a:prstGeom prst="rect">
              <a:avLst/>
            </a:prstGeom>
          </p:spPr>
          <p:txBody>
            <a:bodyPr anchor="ctr" rtlCol="false" tIns="50800" lIns="50800" bIns="50800" rIns="50800"/>
            <a:lstStyle/>
            <a:p>
              <a:pPr algn="ctr">
                <a:lnSpc>
                  <a:spcPts val="3639"/>
                </a:lnSpc>
                <a:spcBef>
                  <a:spcPct val="0"/>
                </a:spcBef>
              </a:pPr>
              <a:r>
                <a:rPr lang="en-US" sz="2599">
                  <a:solidFill>
                    <a:srgbClr val="000000"/>
                  </a:solidFill>
                  <a:latin typeface="Canva Sans"/>
                  <a:ea typeface="Canva Sans"/>
                  <a:cs typeface="Canva Sans"/>
                  <a:sym typeface="Canva Sans"/>
                </a:rPr>
                <a:t>Nghiệm này có tốt hơn nghiệm của sigmoid nhưng kết</a:t>
              </a:r>
              <a:r>
                <a:rPr lang="en-US" sz="2599">
                  <a:solidFill>
                    <a:srgbClr val="000000"/>
                  </a:solidFill>
                  <a:latin typeface="Canva Sans"/>
                  <a:ea typeface="Canva Sans"/>
                  <a:cs typeface="Canva Sans"/>
                  <a:sym typeface="Canva Sans"/>
                </a:rPr>
                <a:t> quả có phần giống với </a:t>
              </a:r>
              <a:r>
                <a:rPr lang="en-US" sz="2599" u="sng">
                  <a:solidFill>
                    <a:srgbClr val="000000"/>
                  </a:solidFill>
                  <a:latin typeface="Canva Sans"/>
                  <a:ea typeface="Canva Sans"/>
                  <a:cs typeface="Canva Sans"/>
                  <a:sym typeface="Canva Sans"/>
                  <a:hlinkClick r:id="rId4" tooltip="https://machinelearningcoban.com/2017/03/04/overfitting/"/>
                </a:rPr>
                <a:t>overfitting</a:t>
              </a:r>
              <a:r>
                <a:rPr lang="en-US" sz="2599">
                  <a:solidFill>
                    <a:srgbClr val="000000"/>
                  </a:solidFill>
                  <a:latin typeface="Canva Sans"/>
                  <a:ea typeface="Canva Sans"/>
                  <a:cs typeface="Canva Sans"/>
                  <a:sym typeface="Canva Sans"/>
                </a:rPr>
                <a:t>.</a:t>
              </a:r>
            </a:p>
          </p:txBody>
        </p:sp>
      </p:grpSp>
      <p:sp>
        <p:nvSpPr>
          <p:cNvPr name="Freeform 6" id="6"/>
          <p:cNvSpPr/>
          <p:nvPr/>
        </p:nvSpPr>
        <p:spPr>
          <a:xfrm flipH="false" flipV="false" rot="0">
            <a:off x="0" y="862240"/>
            <a:ext cx="6931651" cy="5834320"/>
          </a:xfrm>
          <a:custGeom>
            <a:avLst/>
            <a:gdLst/>
            <a:ahLst/>
            <a:cxnLst/>
            <a:rect r="r" b="b" t="t" l="l"/>
            <a:pathLst>
              <a:path h="5834320" w="6931651">
                <a:moveTo>
                  <a:pt x="0" y="0"/>
                </a:moveTo>
                <a:lnTo>
                  <a:pt x="6931651" y="0"/>
                </a:lnTo>
                <a:lnTo>
                  <a:pt x="6931651" y="5834320"/>
                </a:lnTo>
                <a:lnTo>
                  <a:pt x="0" y="5834320"/>
                </a:lnTo>
                <a:lnTo>
                  <a:pt x="0" y="0"/>
                </a:lnTo>
                <a:close/>
              </a:path>
            </a:pathLst>
          </a:custGeom>
          <a:blipFill>
            <a:blip r:embed="rId5"/>
            <a:stretch>
              <a:fillRect l="0" t="0" r="0" b="0"/>
            </a:stretch>
          </a:blipFill>
        </p:spPr>
      </p:sp>
      <p:sp>
        <p:nvSpPr>
          <p:cNvPr name="Freeform 7" id="7"/>
          <p:cNvSpPr/>
          <p:nvPr/>
        </p:nvSpPr>
        <p:spPr>
          <a:xfrm flipH="false" flipV="false" rot="0">
            <a:off x="1541449" y="6512870"/>
            <a:ext cx="4160369" cy="910727"/>
          </a:xfrm>
          <a:custGeom>
            <a:avLst/>
            <a:gdLst/>
            <a:ahLst/>
            <a:cxnLst/>
            <a:rect r="r" b="b" t="t" l="l"/>
            <a:pathLst>
              <a:path h="910727" w="4160369">
                <a:moveTo>
                  <a:pt x="0" y="0"/>
                </a:moveTo>
                <a:lnTo>
                  <a:pt x="4160369" y="0"/>
                </a:lnTo>
                <a:lnTo>
                  <a:pt x="4160369" y="910727"/>
                </a:lnTo>
                <a:lnTo>
                  <a:pt x="0" y="910727"/>
                </a:lnTo>
                <a:lnTo>
                  <a:pt x="0" y="0"/>
                </a:lnTo>
                <a:close/>
              </a:path>
            </a:pathLst>
          </a:custGeom>
          <a:blipFill>
            <a:blip r:embed="rId6"/>
            <a:stretch>
              <a:fillRect l="0" t="0" r="0" b="0"/>
            </a:stretch>
          </a:blipFill>
        </p:spPr>
      </p:sp>
      <p:sp>
        <p:nvSpPr>
          <p:cNvPr name="Freeform 8" id="8"/>
          <p:cNvSpPr/>
          <p:nvPr/>
        </p:nvSpPr>
        <p:spPr>
          <a:xfrm flipH="false" flipV="false" rot="0">
            <a:off x="6803050" y="908163"/>
            <a:ext cx="11484950" cy="5742475"/>
          </a:xfrm>
          <a:custGeom>
            <a:avLst/>
            <a:gdLst/>
            <a:ahLst/>
            <a:cxnLst/>
            <a:rect r="r" b="b" t="t" l="l"/>
            <a:pathLst>
              <a:path h="5742475" w="11484950">
                <a:moveTo>
                  <a:pt x="0" y="0"/>
                </a:moveTo>
                <a:lnTo>
                  <a:pt x="11484950" y="0"/>
                </a:lnTo>
                <a:lnTo>
                  <a:pt x="11484950" y="5742475"/>
                </a:lnTo>
                <a:lnTo>
                  <a:pt x="0" y="5742475"/>
                </a:lnTo>
                <a:lnTo>
                  <a:pt x="0" y="0"/>
                </a:lnTo>
                <a:close/>
              </a:path>
            </a:pathLst>
          </a:custGeom>
          <a:blipFill>
            <a:blip r:embed="rId7"/>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664501" y="3183700"/>
            <a:ext cx="9375172" cy="2309551"/>
            <a:chOff x="0" y="0"/>
            <a:chExt cx="2469181" cy="608277"/>
          </a:xfrm>
        </p:grpSpPr>
        <p:sp>
          <p:nvSpPr>
            <p:cNvPr name="Freeform 4" id="4"/>
            <p:cNvSpPr/>
            <p:nvPr/>
          </p:nvSpPr>
          <p:spPr>
            <a:xfrm flipH="false" flipV="false" rot="0">
              <a:off x="0" y="0"/>
              <a:ext cx="2469181" cy="608277"/>
            </a:xfrm>
            <a:custGeom>
              <a:avLst/>
              <a:gdLst/>
              <a:ahLst/>
              <a:cxnLst/>
              <a:rect r="r" b="b" t="t" l="l"/>
              <a:pathLst>
                <a:path h="608277" w="2469181">
                  <a:moveTo>
                    <a:pt x="0" y="0"/>
                  </a:moveTo>
                  <a:lnTo>
                    <a:pt x="2469181" y="0"/>
                  </a:lnTo>
                  <a:lnTo>
                    <a:pt x="2469181" y="608277"/>
                  </a:lnTo>
                  <a:lnTo>
                    <a:pt x="0" y="608277"/>
                  </a:lnTo>
                  <a:close/>
                </a:path>
              </a:pathLst>
            </a:custGeom>
            <a:solidFill>
              <a:srgbClr val="FFC466"/>
            </a:solidFill>
            <a:ln w="38100" cap="sq">
              <a:solidFill>
                <a:srgbClr val="000000"/>
              </a:solidFill>
              <a:prstDash val="solid"/>
              <a:miter/>
            </a:ln>
          </p:spPr>
        </p:sp>
        <p:sp>
          <p:nvSpPr>
            <p:cNvPr name="TextBox 5" id="5"/>
            <p:cNvSpPr txBox="true"/>
            <p:nvPr/>
          </p:nvSpPr>
          <p:spPr>
            <a:xfrm>
              <a:off x="0" y="-57150"/>
              <a:ext cx="2469181" cy="665427"/>
            </a:xfrm>
            <a:prstGeom prst="rect">
              <a:avLst/>
            </a:prstGeom>
          </p:spPr>
          <p:txBody>
            <a:bodyPr anchor="ctr" rtlCol="false" tIns="50800" lIns="50800" bIns="50800" rIns="50800"/>
            <a:lstStyle/>
            <a:p>
              <a:pPr algn="ctr">
                <a:lnSpc>
                  <a:spcPts val="3639"/>
                </a:lnSpc>
                <a:spcBef>
                  <a:spcPct val="0"/>
                </a:spcBef>
              </a:pPr>
              <a:r>
                <a:rPr lang="en-US" sz="2599">
                  <a:solidFill>
                    <a:srgbClr val="000000"/>
                  </a:solidFill>
                  <a:latin typeface="Canva Sans"/>
                  <a:ea typeface="Canva Sans"/>
                  <a:cs typeface="Canva Sans"/>
                  <a:sym typeface="Canva Sans"/>
                </a:rPr>
                <a:t>Trong khi Sigmoid cố bẻ đường thẳng, Poly cố uốn đường cong, thì RBF đơn giản là tạo ra các vòng tròn bao quanh dữ</a:t>
              </a:r>
              <a:r>
                <a:rPr lang="en-US" sz="2599">
                  <a:solidFill>
                    <a:srgbClr val="000000"/>
                  </a:solidFill>
                  <a:latin typeface="Canva Sans"/>
                  <a:ea typeface="Canva Sans"/>
                  <a:cs typeface="Canva Sans"/>
                  <a:sym typeface="Canva Sans"/>
                </a:rPr>
                <a:t> liệu. Với XOR, nó chỉ cần tạo 2 vòng tròn màu Đỏ bao quanh 2 điểm Đỏ, </a:t>
              </a:r>
              <a:r>
                <a:rPr lang="en-US" sz="2599" u="none">
                  <a:solidFill>
                    <a:srgbClr val="000000"/>
                  </a:solidFill>
                  <a:latin typeface="Canva Sans"/>
                  <a:ea typeface="Canva Sans"/>
                  <a:cs typeface="Canva Sans"/>
                  <a:sym typeface="Canva Sans"/>
                </a:rPr>
                <a:t>v</a:t>
              </a:r>
              <a:r>
                <a:rPr lang="en-US" sz="2599">
                  <a:solidFill>
                    <a:srgbClr val="000000"/>
                  </a:solidFill>
                  <a:latin typeface="Canva Sans"/>
                  <a:ea typeface="Canva Sans"/>
                  <a:cs typeface="Canva Sans"/>
                  <a:sym typeface="Canva Sans"/>
                </a:rPr>
                <a:t>à nền còn lạ</a:t>
              </a:r>
              <a:r>
                <a:rPr lang="en-US" sz="2599" u="none">
                  <a:solidFill>
                    <a:srgbClr val="000000"/>
                  </a:solidFill>
                  <a:latin typeface="Canva Sans"/>
                  <a:ea typeface="Canva Sans"/>
                  <a:cs typeface="Canva Sans"/>
                  <a:sym typeface="Canva Sans"/>
                </a:rPr>
                <a:t>i</a:t>
              </a:r>
              <a:r>
                <a:rPr lang="en-US" sz="2599">
                  <a:solidFill>
                    <a:srgbClr val="000000"/>
                  </a:solidFill>
                  <a:latin typeface="Canva Sans"/>
                  <a:ea typeface="Canva Sans"/>
                  <a:cs typeface="Canva Sans"/>
                  <a:sym typeface="Canva Sans"/>
                </a:rPr>
                <a:t> là màu Xa</a:t>
              </a:r>
              <a:r>
                <a:rPr lang="en-US" sz="2599" u="none">
                  <a:solidFill>
                    <a:srgbClr val="000000"/>
                  </a:solidFill>
                  <a:latin typeface="Canva Sans"/>
                  <a:ea typeface="Canva Sans"/>
                  <a:cs typeface="Canva Sans"/>
                  <a:sym typeface="Canva Sans"/>
                </a:rPr>
                <a:t>n</a:t>
              </a:r>
              <a:r>
                <a:rPr lang="en-US" sz="2599">
                  <a:solidFill>
                    <a:srgbClr val="000000"/>
                  </a:solidFill>
                  <a:latin typeface="Canva Sans"/>
                  <a:ea typeface="Canva Sans"/>
                  <a:cs typeface="Canva Sans"/>
                  <a:sym typeface="Canva Sans"/>
                </a:rPr>
                <a:t>h.</a:t>
              </a:r>
            </a:p>
          </p:txBody>
        </p:sp>
      </p:grpSp>
      <p:sp>
        <p:nvSpPr>
          <p:cNvPr name="Freeform 6" id="6"/>
          <p:cNvSpPr/>
          <p:nvPr/>
        </p:nvSpPr>
        <p:spPr>
          <a:xfrm flipH="false" flipV="false" rot="0">
            <a:off x="1236755" y="7320592"/>
            <a:ext cx="5575097" cy="699128"/>
          </a:xfrm>
          <a:custGeom>
            <a:avLst/>
            <a:gdLst/>
            <a:ahLst/>
            <a:cxnLst/>
            <a:rect r="r" b="b" t="t" l="l"/>
            <a:pathLst>
              <a:path h="699128" w="5575097">
                <a:moveTo>
                  <a:pt x="0" y="0"/>
                </a:moveTo>
                <a:lnTo>
                  <a:pt x="5575096" y="0"/>
                </a:lnTo>
                <a:lnTo>
                  <a:pt x="5575096" y="699127"/>
                </a:lnTo>
                <a:lnTo>
                  <a:pt x="0" y="699127"/>
                </a:lnTo>
                <a:lnTo>
                  <a:pt x="0" y="0"/>
                </a:lnTo>
                <a:close/>
              </a:path>
            </a:pathLst>
          </a:custGeom>
          <a:blipFill>
            <a:blip r:embed="rId4"/>
            <a:stretch>
              <a:fillRect l="0" t="0" r="0" b="0"/>
            </a:stretch>
          </a:blipFill>
        </p:spPr>
      </p:sp>
      <p:sp>
        <p:nvSpPr>
          <p:cNvPr name="Freeform 7" id="7"/>
          <p:cNvSpPr/>
          <p:nvPr/>
        </p:nvSpPr>
        <p:spPr>
          <a:xfrm flipH="false" flipV="false" rot="0">
            <a:off x="703591" y="1442636"/>
            <a:ext cx="6641424" cy="5791679"/>
          </a:xfrm>
          <a:custGeom>
            <a:avLst/>
            <a:gdLst/>
            <a:ahLst/>
            <a:cxnLst/>
            <a:rect r="r" b="b" t="t" l="l"/>
            <a:pathLst>
              <a:path h="5791679" w="6641424">
                <a:moveTo>
                  <a:pt x="0" y="0"/>
                </a:moveTo>
                <a:lnTo>
                  <a:pt x="6641424" y="0"/>
                </a:lnTo>
                <a:lnTo>
                  <a:pt x="6641424" y="5791679"/>
                </a:lnTo>
                <a:lnTo>
                  <a:pt x="0" y="5791679"/>
                </a:lnTo>
                <a:lnTo>
                  <a:pt x="0" y="0"/>
                </a:lnTo>
                <a:close/>
              </a:path>
            </a:pathLst>
          </a:custGeom>
          <a:blipFill>
            <a:blip r:embed="rId5"/>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649482" y="-149711"/>
            <a:ext cx="9846882" cy="10720315"/>
            <a:chOff x="0" y="0"/>
            <a:chExt cx="2593418" cy="2823457"/>
          </a:xfrm>
        </p:grpSpPr>
        <p:sp>
          <p:nvSpPr>
            <p:cNvPr name="Freeform 4" id="4"/>
            <p:cNvSpPr/>
            <p:nvPr/>
          </p:nvSpPr>
          <p:spPr>
            <a:xfrm flipH="false" flipV="false" rot="0">
              <a:off x="0" y="0"/>
              <a:ext cx="2593417" cy="2823457"/>
            </a:xfrm>
            <a:custGeom>
              <a:avLst/>
              <a:gdLst/>
              <a:ahLst/>
              <a:cxnLst/>
              <a:rect r="r" b="b" t="t" l="l"/>
              <a:pathLst>
                <a:path h="2823457" w="2593417">
                  <a:moveTo>
                    <a:pt x="0" y="0"/>
                  </a:moveTo>
                  <a:lnTo>
                    <a:pt x="2593417" y="0"/>
                  </a:lnTo>
                  <a:lnTo>
                    <a:pt x="2593417" y="2823457"/>
                  </a:lnTo>
                  <a:lnTo>
                    <a:pt x="0" y="2823457"/>
                  </a:lnTo>
                  <a:close/>
                </a:path>
              </a:pathLst>
            </a:custGeom>
            <a:solidFill>
              <a:srgbClr val="EE4B4C"/>
            </a:solidFill>
            <a:ln w="38100" cap="sq">
              <a:solidFill>
                <a:srgbClr val="000000"/>
              </a:solidFill>
              <a:prstDash val="solid"/>
              <a:miter/>
            </a:ln>
          </p:spPr>
        </p:sp>
        <p:sp>
          <p:nvSpPr>
            <p:cNvPr name="TextBox 5" id="5"/>
            <p:cNvSpPr txBox="true"/>
            <p:nvPr/>
          </p:nvSpPr>
          <p:spPr>
            <a:xfrm>
              <a:off x="0" y="-38100"/>
              <a:ext cx="2593418" cy="286155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0981706" y="1687064"/>
            <a:ext cx="805446" cy="805446"/>
          </a:xfrm>
          <a:custGeom>
            <a:avLst/>
            <a:gdLst/>
            <a:ahLst/>
            <a:cxnLst/>
            <a:rect r="r" b="b" t="t" l="l"/>
            <a:pathLst>
              <a:path h="805446" w="805446">
                <a:moveTo>
                  <a:pt x="0" y="0"/>
                </a:moveTo>
                <a:lnTo>
                  <a:pt x="805446" y="0"/>
                </a:lnTo>
                <a:lnTo>
                  <a:pt x="805446" y="805446"/>
                </a:lnTo>
                <a:lnTo>
                  <a:pt x="0" y="805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57213" y="3919559"/>
            <a:ext cx="805446" cy="805446"/>
          </a:xfrm>
          <a:custGeom>
            <a:avLst/>
            <a:gdLst/>
            <a:ahLst/>
            <a:cxnLst/>
            <a:rect r="r" b="b" t="t" l="l"/>
            <a:pathLst>
              <a:path h="805446" w="805446">
                <a:moveTo>
                  <a:pt x="0" y="0"/>
                </a:moveTo>
                <a:lnTo>
                  <a:pt x="805445" y="0"/>
                </a:lnTo>
                <a:lnTo>
                  <a:pt x="805445" y="805445"/>
                </a:lnTo>
                <a:lnTo>
                  <a:pt x="0" y="8054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7945621" y="9258300"/>
            <a:ext cx="570040" cy="570040"/>
          </a:xfrm>
          <a:custGeom>
            <a:avLst/>
            <a:gdLst/>
            <a:ahLst/>
            <a:cxnLst/>
            <a:rect r="r" b="b" t="t" l="l"/>
            <a:pathLst>
              <a:path h="570040" w="570040">
                <a:moveTo>
                  <a:pt x="0" y="0"/>
                </a:moveTo>
                <a:lnTo>
                  <a:pt x="570041" y="0"/>
                </a:lnTo>
                <a:lnTo>
                  <a:pt x="570041"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299203" y="8973280"/>
            <a:ext cx="570040" cy="570040"/>
          </a:xfrm>
          <a:custGeom>
            <a:avLst/>
            <a:gdLst/>
            <a:ahLst/>
            <a:cxnLst/>
            <a:rect r="r" b="b" t="t" l="l"/>
            <a:pathLst>
              <a:path h="570040" w="570040">
                <a:moveTo>
                  <a:pt x="0" y="0"/>
                </a:moveTo>
                <a:lnTo>
                  <a:pt x="570040" y="0"/>
                </a:lnTo>
                <a:lnTo>
                  <a:pt x="570040" y="570040"/>
                </a:lnTo>
                <a:lnTo>
                  <a:pt x="0" y="5700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195929">
            <a:off x="11169901" y="3495336"/>
            <a:ext cx="3491318" cy="3430220"/>
          </a:xfrm>
          <a:custGeom>
            <a:avLst/>
            <a:gdLst/>
            <a:ahLst/>
            <a:cxnLst/>
            <a:rect r="r" b="b" t="t" l="l"/>
            <a:pathLst>
              <a:path h="3430220" w="3491318">
                <a:moveTo>
                  <a:pt x="0" y="0"/>
                </a:moveTo>
                <a:lnTo>
                  <a:pt x="3491317" y="0"/>
                </a:lnTo>
                <a:lnTo>
                  <a:pt x="3491317" y="3430220"/>
                </a:lnTo>
                <a:lnTo>
                  <a:pt x="0" y="34302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475707">
            <a:off x="14090938" y="-248392"/>
            <a:ext cx="3046198" cy="3000505"/>
          </a:xfrm>
          <a:custGeom>
            <a:avLst/>
            <a:gdLst/>
            <a:ahLst/>
            <a:cxnLst/>
            <a:rect r="r" b="b" t="t" l="l"/>
            <a:pathLst>
              <a:path h="3000505" w="3046198">
                <a:moveTo>
                  <a:pt x="0" y="0"/>
                </a:moveTo>
                <a:lnTo>
                  <a:pt x="3046198" y="0"/>
                </a:lnTo>
                <a:lnTo>
                  <a:pt x="3046198" y="3000505"/>
                </a:lnTo>
                <a:lnTo>
                  <a:pt x="0" y="30005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421534">
            <a:off x="14536229" y="5246584"/>
            <a:ext cx="4060917" cy="3908632"/>
          </a:xfrm>
          <a:custGeom>
            <a:avLst/>
            <a:gdLst/>
            <a:ahLst/>
            <a:cxnLst/>
            <a:rect r="r" b="b" t="t" l="l"/>
            <a:pathLst>
              <a:path h="3908632" w="4060917">
                <a:moveTo>
                  <a:pt x="0" y="0"/>
                </a:moveTo>
                <a:lnTo>
                  <a:pt x="4060917" y="0"/>
                </a:lnTo>
                <a:lnTo>
                  <a:pt x="4060917" y="3908632"/>
                </a:lnTo>
                <a:lnTo>
                  <a:pt x="0" y="390863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3" id="13"/>
          <p:cNvSpPr txBox="true"/>
          <p:nvPr/>
        </p:nvSpPr>
        <p:spPr>
          <a:xfrm rot="0">
            <a:off x="2548692" y="4422357"/>
            <a:ext cx="7821237" cy="1162050"/>
          </a:xfrm>
          <a:prstGeom prst="rect">
            <a:avLst/>
          </a:prstGeom>
        </p:spPr>
        <p:txBody>
          <a:bodyPr anchor="t" rtlCol="false" tIns="0" lIns="0" bIns="0" rIns="0">
            <a:spAutoFit/>
          </a:bodyPr>
          <a:lstStyle/>
          <a:p>
            <a:pPr algn="l" marL="1621970" indent="-810985" lvl="1">
              <a:lnSpc>
                <a:spcPts val="9015"/>
              </a:lnSpc>
              <a:spcBef>
                <a:spcPct val="0"/>
              </a:spcBef>
              <a:buAutoNum type="arabicPeriod" startAt="1"/>
            </a:pPr>
            <a:r>
              <a:rPr lang="en-US" sz="7512">
                <a:solidFill>
                  <a:srgbClr val="EE4B4C"/>
                </a:solidFill>
                <a:latin typeface="Archivo Black"/>
                <a:ea typeface="Archivo Black"/>
                <a:cs typeface="Archivo Black"/>
                <a:sym typeface="Archivo Black"/>
              </a:rPr>
              <a:t> Multi-class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62561" y="3999686"/>
            <a:ext cx="8380586" cy="5755204"/>
          </a:xfrm>
          <a:custGeom>
            <a:avLst/>
            <a:gdLst/>
            <a:ahLst/>
            <a:cxnLst/>
            <a:rect r="r" b="b" t="t" l="l"/>
            <a:pathLst>
              <a:path h="5755204" w="8380586">
                <a:moveTo>
                  <a:pt x="0" y="0"/>
                </a:moveTo>
                <a:lnTo>
                  <a:pt x="8380586" y="0"/>
                </a:lnTo>
                <a:lnTo>
                  <a:pt x="8380586" y="5755204"/>
                </a:lnTo>
                <a:lnTo>
                  <a:pt x="0" y="5755204"/>
                </a:lnTo>
                <a:lnTo>
                  <a:pt x="0" y="0"/>
                </a:lnTo>
                <a:close/>
              </a:path>
            </a:pathLst>
          </a:custGeom>
          <a:blipFill>
            <a:blip r:embed="rId4"/>
            <a:stretch>
              <a:fillRect l="0" t="0" r="0" b="0"/>
            </a:stretch>
          </a:blipFill>
        </p:spPr>
      </p:sp>
      <p:sp>
        <p:nvSpPr>
          <p:cNvPr name="Freeform 4" id="4"/>
          <p:cNvSpPr/>
          <p:nvPr/>
        </p:nvSpPr>
        <p:spPr>
          <a:xfrm flipH="false" flipV="false" rot="0">
            <a:off x="444853" y="655364"/>
            <a:ext cx="17398294" cy="1532370"/>
          </a:xfrm>
          <a:custGeom>
            <a:avLst/>
            <a:gdLst/>
            <a:ahLst/>
            <a:cxnLst/>
            <a:rect r="r" b="b" t="t" l="l"/>
            <a:pathLst>
              <a:path h="1532370" w="17398294">
                <a:moveTo>
                  <a:pt x="0" y="0"/>
                </a:moveTo>
                <a:lnTo>
                  <a:pt x="17398294" y="0"/>
                </a:lnTo>
                <a:lnTo>
                  <a:pt x="17398294" y="1532370"/>
                </a:lnTo>
                <a:lnTo>
                  <a:pt x="0" y="1532370"/>
                </a:lnTo>
                <a:lnTo>
                  <a:pt x="0" y="0"/>
                </a:lnTo>
                <a:close/>
              </a:path>
            </a:pathLst>
          </a:custGeom>
          <a:blipFill>
            <a:blip r:embed="rId5"/>
            <a:stretch>
              <a:fillRect l="0" t="0" r="0" b="0"/>
            </a:stretch>
          </a:blipFill>
        </p:spPr>
      </p:sp>
      <p:grpSp>
        <p:nvGrpSpPr>
          <p:cNvPr name="Group 5" id="5"/>
          <p:cNvGrpSpPr/>
          <p:nvPr/>
        </p:nvGrpSpPr>
        <p:grpSpPr>
          <a:xfrm rot="0">
            <a:off x="444853" y="2601694"/>
            <a:ext cx="10627889" cy="2309551"/>
            <a:chOff x="0" y="0"/>
            <a:chExt cx="2799115" cy="608277"/>
          </a:xfrm>
        </p:grpSpPr>
        <p:sp>
          <p:nvSpPr>
            <p:cNvPr name="Freeform 6" id="6"/>
            <p:cNvSpPr/>
            <p:nvPr/>
          </p:nvSpPr>
          <p:spPr>
            <a:xfrm flipH="false" flipV="false" rot="0">
              <a:off x="0" y="0"/>
              <a:ext cx="2799115" cy="608277"/>
            </a:xfrm>
            <a:custGeom>
              <a:avLst/>
              <a:gdLst/>
              <a:ahLst/>
              <a:cxnLst/>
              <a:rect r="r" b="b" t="t" l="l"/>
              <a:pathLst>
                <a:path h="608277" w="2799115">
                  <a:moveTo>
                    <a:pt x="0" y="0"/>
                  </a:moveTo>
                  <a:lnTo>
                    <a:pt x="2799115" y="0"/>
                  </a:lnTo>
                  <a:lnTo>
                    <a:pt x="2799115" y="608277"/>
                  </a:lnTo>
                  <a:lnTo>
                    <a:pt x="0" y="608277"/>
                  </a:lnTo>
                  <a:close/>
                </a:path>
              </a:pathLst>
            </a:custGeom>
            <a:solidFill>
              <a:srgbClr val="FFC466"/>
            </a:solidFill>
            <a:ln w="38100" cap="sq">
              <a:solidFill>
                <a:srgbClr val="000000"/>
              </a:solidFill>
              <a:prstDash val="solid"/>
              <a:miter/>
            </a:ln>
          </p:spPr>
        </p:sp>
        <p:sp>
          <p:nvSpPr>
            <p:cNvPr name="TextBox 7" id="7"/>
            <p:cNvSpPr txBox="true"/>
            <p:nvPr/>
          </p:nvSpPr>
          <p:spPr>
            <a:xfrm>
              <a:off x="0" y="-57150"/>
              <a:ext cx="2799115" cy="665427"/>
            </a:xfrm>
            <a:prstGeom prst="rect">
              <a:avLst/>
            </a:prstGeom>
          </p:spPr>
          <p:txBody>
            <a:bodyPr anchor="ctr" rtlCol="false" tIns="50800" lIns="50800" bIns="50800" rIns="50800"/>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Vẽ một bản đồ 2D và tô màu 5 vùng khác nhau dựa trên thứ hạ</a:t>
              </a:r>
              <a:r>
                <a:rPr lang="en-US" b="true" sz="2599">
                  <a:solidFill>
                    <a:srgbClr val="000000"/>
                  </a:solidFill>
                  <a:latin typeface="Canva Sans Bold"/>
                  <a:ea typeface="Canva Sans Bold"/>
                  <a:cs typeface="Canva Sans Bold"/>
                  <a:sym typeface="Canva Sans Bold"/>
                </a:rPr>
                <a:t>ng. PCA tạo ra vị trí của các “bộ phim”, và pd.cut xác định chúng thuộc vùng thứ hạng nào.</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13011" y="1028700"/>
            <a:ext cx="13261978" cy="799961"/>
          </a:xfrm>
          <a:custGeom>
            <a:avLst/>
            <a:gdLst/>
            <a:ahLst/>
            <a:cxnLst/>
            <a:rect r="r" b="b" t="t" l="l"/>
            <a:pathLst>
              <a:path h="799961" w="13261978">
                <a:moveTo>
                  <a:pt x="0" y="0"/>
                </a:moveTo>
                <a:lnTo>
                  <a:pt x="13261978" y="0"/>
                </a:lnTo>
                <a:lnTo>
                  <a:pt x="13261978" y="799961"/>
                </a:lnTo>
                <a:lnTo>
                  <a:pt x="0" y="799961"/>
                </a:lnTo>
                <a:lnTo>
                  <a:pt x="0" y="0"/>
                </a:lnTo>
                <a:close/>
              </a:path>
            </a:pathLst>
          </a:custGeom>
          <a:blipFill>
            <a:blip r:embed="rId4"/>
            <a:stretch>
              <a:fillRect l="0" t="0" r="0" b="-20370"/>
            </a:stretch>
          </a:blipFill>
        </p:spPr>
      </p:sp>
      <p:grpSp>
        <p:nvGrpSpPr>
          <p:cNvPr name="Group 4" id="4"/>
          <p:cNvGrpSpPr/>
          <p:nvPr/>
        </p:nvGrpSpPr>
        <p:grpSpPr>
          <a:xfrm rot="0">
            <a:off x="3908561" y="2369439"/>
            <a:ext cx="9513287" cy="4339450"/>
            <a:chOff x="0" y="0"/>
            <a:chExt cx="2505557" cy="1142901"/>
          </a:xfrm>
        </p:grpSpPr>
        <p:sp>
          <p:nvSpPr>
            <p:cNvPr name="Freeform 5" id="5"/>
            <p:cNvSpPr/>
            <p:nvPr/>
          </p:nvSpPr>
          <p:spPr>
            <a:xfrm flipH="false" flipV="false" rot="0">
              <a:off x="0" y="0"/>
              <a:ext cx="2505557" cy="1142901"/>
            </a:xfrm>
            <a:custGeom>
              <a:avLst/>
              <a:gdLst/>
              <a:ahLst/>
              <a:cxnLst/>
              <a:rect r="r" b="b" t="t" l="l"/>
              <a:pathLst>
                <a:path h="1142901" w="2505557">
                  <a:moveTo>
                    <a:pt x="0" y="0"/>
                  </a:moveTo>
                  <a:lnTo>
                    <a:pt x="2505557" y="0"/>
                  </a:lnTo>
                  <a:lnTo>
                    <a:pt x="2505557" y="1142901"/>
                  </a:lnTo>
                  <a:lnTo>
                    <a:pt x="0" y="1142901"/>
                  </a:lnTo>
                  <a:close/>
                </a:path>
              </a:pathLst>
            </a:custGeom>
            <a:solidFill>
              <a:srgbClr val="FFC466"/>
            </a:solidFill>
            <a:ln w="38100" cap="sq">
              <a:solidFill>
                <a:srgbClr val="000000"/>
              </a:solidFill>
              <a:prstDash val="solid"/>
              <a:miter/>
            </a:ln>
          </p:spPr>
        </p:sp>
        <p:sp>
          <p:nvSpPr>
            <p:cNvPr name="TextBox 6" id="6"/>
            <p:cNvSpPr txBox="true"/>
            <p:nvPr/>
          </p:nvSpPr>
          <p:spPr>
            <a:xfrm>
              <a:off x="0" y="-57150"/>
              <a:ext cx="2505557" cy="1200051"/>
            </a:xfrm>
            <a:prstGeom prst="rect">
              <a:avLst/>
            </a:prstGeom>
          </p:spPr>
          <p:txBody>
            <a:bodyPr anchor="ctr" rtlCol="false" tIns="50800" lIns="50800" bIns="50800" rIns="50800"/>
            <a:lstStyle/>
            <a:p>
              <a:pPr algn="ctr">
                <a:lnSpc>
                  <a:spcPts val="3639"/>
                </a:lnSpc>
                <a:spcBef>
                  <a:spcPct val="0"/>
                </a:spcBef>
              </a:pPr>
              <a:r>
                <a:rPr lang="en-US" b="true" sz="2599">
                  <a:solidFill>
                    <a:srgbClr val="000000"/>
                  </a:solidFill>
                  <a:latin typeface="Canva Sans Bold"/>
                  <a:ea typeface="Canva Sans Bold"/>
                  <a:cs typeface="Canva Sans Bold"/>
                  <a:sym typeface="Canva Sans Bold"/>
                </a:rPr>
                <a:t>Giá trị 'scale': </a:t>
              </a:r>
              <a:r>
                <a:rPr lang="en-US" sz="2599">
                  <a:solidFill>
                    <a:srgbClr val="000000"/>
                  </a:solidFill>
                  <a:latin typeface="Canva Sans"/>
                  <a:ea typeface="Canva Sans"/>
                  <a:cs typeface="Canva Sans"/>
                  <a:sym typeface="Canva Sans"/>
                </a:rPr>
                <a:t> Đây là một cơ chế tự động hóa rất thông minh. Thay vì phải đoán mò một con số, 'scale' sẽ tự độ</a:t>
              </a:r>
              <a:r>
                <a:rPr lang="en-US" sz="2599">
                  <a:solidFill>
                    <a:srgbClr val="000000"/>
                  </a:solidFill>
                  <a:latin typeface="Canva Sans"/>
                  <a:ea typeface="Canva Sans"/>
                  <a:cs typeface="Canva Sans"/>
                  <a:sym typeface="Canva Sans"/>
                </a:rPr>
                <a:t>ng tính toán giá trị gamma dựa trên mật độ và phân bố của 1.000 bộ phim trên bản đồ PCA. Nó đảm bảo các "nguồn sáng" không quá hẹp để bị overfit, cũng không quá rộng để bị trộn lẫn.</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98175" y="495733"/>
            <a:ext cx="8935278" cy="7237575"/>
          </a:xfrm>
          <a:custGeom>
            <a:avLst/>
            <a:gdLst/>
            <a:ahLst/>
            <a:cxnLst/>
            <a:rect r="r" b="b" t="t" l="l"/>
            <a:pathLst>
              <a:path h="7237575" w="8935278">
                <a:moveTo>
                  <a:pt x="0" y="0"/>
                </a:moveTo>
                <a:lnTo>
                  <a:pt x="8935278" y="0"/>
                </a:lnTo>
                <a:lnTo>
                  <a:pt x="8935278" y="7237576"/>
                </a:lnTo>
                <a:lnTo>
                  <a:pt x="0" y="7237576"/>
                </a:lnTo>
                <a:lnTo>
                  <a:pt x="0" y="0"/>
                </a:lnTo>
                <a:close/>
              </a:path>
            </a:pathLst>
          </a:custGeom>
          <a:blipFill>
            <a:blip r:embed="rId4"/>
            <a:stretch>
              <a:fillRect l="0" t="0" r="0" b="0"/>
            </a:stretch>
          </a:blipFill>
        </p:spPr>
      </p:sp>
      <p:sp>
        <p:nvSpPr>
          <p:cNvPr name="Freeform 4" id="4"/>
          <p:cNvSpPr/>
          <p:nvPr/>
        </p:nvSpPr>
        <p:spPr>
          <a:xfrm flipH="false" flipV="false" rot="0">
            <a:off x="4898175" y="8102642"/>
            <a:ext cx="9786212" cy="1155658"/>
          </a:xfrm>
          <a:custGeom>
            <a:avLst/>
            <a:gdLst/>
            <a:ahLst/>
            <a:cxnLst/>
            <a:rect r="r" b="b" t="t" l="l"/>
            <a:pathLst>
              <a:path h="1155658" w="9786212">
                <a:moveTo>
                  <a:pt x="0" y="0"/>
                </a:moveTo>
                <a:lnTo>
                  <a:pt x="9786212" y="0"/>
                </a:lnTo>
                <a:lnTo>
                  <a:pt x="9786212" y="1155658"/>
                </a:lnTo>
                <a:lnTo>
                  <a:pt x="0" y="1155658"/>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65821"/>
            <a:ext cx="18310779" cy="13618642"/>
          </a:xfrm>
          <a:custGeom>
            <a:avLst/>
            <a:gdLst/>
            <a:ahLst/>
            <a:cxnLst/>
            <a:rect r="r" b="b" t="t" l="l"/>
            <a:pathLst>
              <a:path h="13618642" w="18310779">
                <a:moveTo>
                  <a:pt x="0" y="0"/>
                </a:moveTo>
                <a:lnTo>
                  <a:pt x="18310779" y="0"/>
                </a:lnTo>
                <a:lnTo>
                  <a:pt x="18310779" y="13618642"/>
                </a:lnTo>
                <a:lnTo>
                  <a:pt x="0" y="136186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73521" y="1028700"/>
            <a:ext cx="9196512" cy="7473094"/>
          </a:xfrm>
          <a:custGeom>
            <a:avLst/>
            <a:gdLst/>
            <a:ahLst/>
            <a:cxnLst/>
            <a:rect r="r" b="b" t="t" l="l"/>
            <a:pathLst>
              <a:path h="7473094" w="9196512">
                <a:moveTo>
                  <a:pt x="0" y="0"/>
                </a:moveTo>
                <a:lnTo>
                  <a:pt x="9196512" y="0"/>
                </a:lnTo>
                <a:lnTo>
                  <a:pt x="9196512" y="7473094"/>
                </a:lnTo>
                <a:lnTo>
                  <a:pt x="0" y="7473094"/>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DAHE9r-9QSE</dc:identifier>
  <dcterms:modified xsi:type="dcterms:W3CDTF">2011-08-01T06:04:30Z</dcterms:modified>
  <cp:revision>1</cp:revision>
  <dc:title>SVM</dc:title>
</cp:coreProperties>
</file>